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14400"/>
            <a:ext cx="91440" cy="14630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43000" y="8686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Leelawadee UI"/>
              </a:rPr>
              <a:t>งาน: พัฒนาระบบแนะนำเป็นระบบของตัวเอง · รหัส 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5000" b="1">
                <a:solidFill>
                  <a:srgbClr val="E9EFFA"/>
                </a:solidFill>
                <a:latin typeface="Leelawadee UI"/>
              </a:rPr>
              <a:t>ระบบแนะนำมือถือ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40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900" b="1">
                <a:solidFill>
                  <a:srgbClr val="FF8833"/>
                </a:solidFill>
                <a:latin typeface="Leelawadee UI"/>
              </a:rPr>
              <a:t>PHONE RECOMMENDER SYSTEM · Neo4j (Graph DB) +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E9EFFA"/>
                </a:solidFill>
                <a:latin typeface="Leelawadee UI"/>
              </a:rPr>
              <a:t>ข้อมูลของเราเอง 12 คน × 23 รุ่น × 38 ความสนใจ (ไม่ใช้ dataset สำเร็จรูป)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E9EFFA"/>
                </a:solidFill>
                <a:latin typeface="Leelawadee UI"/>
              </a:rPr>
              <a:t>ผลการแนะนำแสดง “ภาพสินค้าจริง” ทุกครั้ง + บอกเหตุผลได้ว่าเพราะใคร/เพราะรุ่นไหน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E9EFFA"/>
                </a:solidFill>
                <a:latin typeface="Leelawadee UI"/>
              </a:rPr>
              <a:t>งานแนวเดียวกับตัวอย่างในวิชา แต่เปลี่ยนโดเมนเป็นมือถือ และใช้สัญญาณ “ยี่ห้อ + ระดับราคา”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4805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46268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Leelawade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389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ผู้ใช้ในระบบ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4805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40" y="46268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Leelawadee U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1389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รุ่นมือถือ (11 ยี่ห้อ)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44805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97880" y="46268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Leelawadee UI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51389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ความสนใจ (LIKES)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4805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46268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1389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วิธีให้คะแนน + ผสม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9436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9FB0CB"/>
                </a:solidFill>
                <a:latin typeface="Leelawadee UI"/>
              </a:rPr>
              <a:t>สาธิตการใช้งาน: เว็บแอป Streamlit 5 หน้า · ข้อมูลบน Neo4j · โค้ด/สไลด์/โน๊ตบุ๊กอยู่บน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หัวข้อที่จะนำเสนอ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25880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453895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0817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โจทย์และสิ่งที่ส่ง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09928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งาน 4 ข้อของอาจารย์ → ส่งครบอะไรบ้าง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167128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29514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4942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แนวคิดระบบแนะนำบนกราฟ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51176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ทำไมข้อมูล “ใครสนใจรุ่นไหน” ต้องใช้กราฟ + การเดิน 3 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008376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1363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906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ข้อมูลและสถาปัตยกรรม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9242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ข้อมูลชุดของเรา + Neo4j + Streamlit + GitHub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849624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31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ระบบทำงานจริง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233672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ผลการแนะนำ 4 วิธี + ภาพสินค้า + อธิบายเหตุผลย้อนหลังได้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69087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48188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7731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สาธิตการใช้งาน (เดโมสด)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074920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เพิ่มความสนใจแล้วคำแนะนำเปลี่ยนทันที ไม่ต้องเทรนใหม่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532120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66013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200" b="1">
                <a:solidFill>
                  <a:srgbClr val="FF8833"/>
                </a:solidFill>
                <a:latin typeface="Leelawade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61441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E9EFFA"/>
                </a:solidFill>
                <a:latin typeface="Leelawadee UI"/>
              </a:rPr>
              <a:t>การทดสอบและลิงก์งาน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916168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ผลตรวจสอบจริง + Colab + GitHub + หน้า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โจทย์ &amp; สิ่งที่ส่ง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งานที่อาจารย์สั่ง 4 ข้อ — ส่งครบทุกข้อ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2588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325880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4904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53895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Present ด้วย PowerPoint + สาธิตการใช้งานระบบ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856231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สไลด์ 16 หน้า (ไฟล์นี้) + เดโมสดในแอป Streamlit + ระบบแสดง “ภาพมือถือจริง” ในผลการแนะนำ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496312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9808" y="2496312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26609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243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ข้อมูล PowerPoint ไว้ใน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26664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ใส่ทั้ง .pptx และ .pdf ไว้ในโฟลเดอร์ slides/ ของ repo (ดูได้โดยไม่ต้องติดตั้งอะไร)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666744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49808" y="3666744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3831335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94759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เอาการบ้านทุกอันไว้ใน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9709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ทุกชิ้นงานมี repo ของตัวเอง และมี repo กลาง homework รวมทุกงานไว้ที่เดียว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837176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49808" y="4837176"/>
            <a:ext cx="68580" cy="100584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" y="500176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9651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E9EFFA"/>
                </a:solidFill>
                <a:latin typeface="Leelawadee UI"/>
              </a:rPr>
              <a:t>จัดหน้า index ให้ลิงก์กับงานทุกอัน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6752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9FB0CB"/>
                </a:solidFill>
                <a:latin typeface="Leelawadee UI"/>
              </a:rPr>
              <a:t>หน้าเว็บ GitHub Pages ลิงก์ทุก repo พร้อมคำอธิบายและวันที่อัปเดตล่าสุด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แนวคิด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ทำไมงานนี้ต้องใช้ฐานข้อมูลกราฟ?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88720"/>
            <a:ext cx="5577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>
                <a:solidFill>
                  <a:srgbClr val="E9EFFA"/>
                </a:solidFill>
                <a:latin typeface="Leelawadee UI"/>
              </a:rPr>
              <a:t>ข้อมูล “ใครสนใจมือถือรุ่นไหน” คือข้อมูลความสัมพันธ์ล้วน ๆ ถ้าเก็บเป็นตารางต้อง JOIN หลายชั้นกว่าจะตอบได้ แต่ในกราฟเขียนครั้งเดียวจบ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5212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คำแนะนำทั้งระบบเขียนด้วย Cypher ไม่กี่บรรทัด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5212079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(me:User {user: 'สมชาย'})-[:LIKES]-&gt;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      (shared:Phone)&lt;-[:LIKES]-(other:User)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(other)-[:LIKES]-&gt;(rec:Phone)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WHERE NOT (me)-[:LIKES]-&gt;(rec)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RETURN rec.model, count(DISTINCT other) AS votes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ORDER BY votes DESC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348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FF8833"/>
                </a:solidFill>
                <a:latin typeface="Leelawadee UI"/>
              </a:rPr>
              <a:t>ขั้นตอนการเดิน 3 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54880"/>
            <a:ext cx="5577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1. ดูรุ่นที่ผู้ใช้สนใจ (4 รุ่นของ สมชาย)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2. หาคนอื่นที่สนใจรุ่นเดียวกัน = รสนิยมใกล้กัน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3. เก็บรุ่นที่คนกลุ่มนั้นสนใจ แต่ผู้ใช้ยังไม่สนใจ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4. ให้คะแนน → เรียงอันดับ → แสดงภาพสินค้า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188720"/>
            <a:ext cx="4864608" cy="521208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12280" y="13258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ทำไมไม่ใช้ตาราง (SQL) เฉย ๆ?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182880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50024" y="1737360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กราฟเดินความสัมพันธ์ได้ลึกไม่จำกัดชั้น โดยไม่ต้อง JOIN เพิ่มทุกชั้น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2249424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50024" y="2157984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ถามแบบ “เพื่อนของเพื่อนสนใจอะไร” ได้ทันที (เส้นทาง 3 hop)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2670048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0024" y="2578608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นับซ้ำให้เองด้วย count(DISTINCT …) — 1 คน = 1 เสียง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3090672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50024" y="2999232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เพิ่มผู้ใช้/รุ่นใหม่แล้วแนะนำได้ทันที ไม่ต้องเทรนโมเดลใหม่</a:t>
            </a:r>
          </a:p>
        </p:txBody>
      </p:sp>
      <p:sp>
        <p:nvSpPr>
          <p:cNvPr id="24" name="Oval 23"/>
          <p:cNvSpPr/>
          <p:nvPr/>
        </p:nvSpPr>
        <p:spPr>
          <a:xfrm>
            <a:off x="6812280" y="351129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0024" y="3419856"/>
            <a:ext cx="4242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อธิบายย้อนหลังได้ว่าคำแนะนำมาจากใครและรุ่นไหน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931919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ข้อแลกเปลี่ยน: ถ้าข้อมูลความสนใจมีหลักล้านเส้น การนับด้วย Cypher ทุกครั้งจะช้ากว่า การ precompute — งานนี้ข้อมูลเล็ก (38 เส้น) จึงตอบได้ทันที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ข้อมูลชุดของเรา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เก็บข้อมูลเองทั้งหมด — ไม่ใช้ dataset สำเร็จรูป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137160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38074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Leelawade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928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ผู้ใช้ (User)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136" y="1234440"/>
            <a:ext cx="137160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31136" y="138074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Leelawadee UI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18928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รุ่นมือถือ (Phone)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1234440"/>
            <a:ext cx="137160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12464" y="138074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Leelawadee UI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18928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ความสนใจ (LIKES)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1234440"/>
            <a:ext cx="137160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93792" y="138074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>
                <a:solidFill>
                  <a:srgbClr val="FF8833"/>
                </a:solidFill>
                <a:latin typeface="Leelawade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18928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ยี่ห้อ (Brand)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234440"/>
            <a:ext cx="468172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3 ระดับราคา: เรือธง · ระดับกลาง · ระดับเริ่มต้น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ยี่ห้อ: ASUS, Apple, Google, Honor, OPPO, OnePlus, Samsung, Sony, Xiaomi, realme, vivo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2468880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26060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12 ผู้ใช้ แบ่งตามกลุ่มรสนิยม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17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สมชาย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0175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 Android เรือธง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8269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นรินทร์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28269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 Android เดิม ๆ (stock)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5478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มะลิ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5478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 Apple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130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ปวีณา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81304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 Apple + Samsung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0782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อนุชา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07822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 Samsung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3434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พลอย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343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สายถ่ายรูป (กล้องดี)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60857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กัญญา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60857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สายคุ้มค่า (งบจำกัด)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73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เฟิร์น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8737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สายดีไซน์ + กล้อง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138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ชัย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13892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สายเกมมิ่ง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404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ธนกร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4041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สายสเปกแรง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6692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แบม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6692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สายแบตอึด งบประหยัด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93445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มินต์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93445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สายดีไซน์ไม่เหมือนใคร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2468880"/>
            <a:ext cx="5047488" cy="37947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629400" y="2606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ทำไมออกแบบข้อมูลแบบนี้</a:t>
            </a:r>
          </a:p>
        </p:txBody>
      </p:sp>
      <p:sp>
        <p:nvSpPr>
          <p:cNvPr id="49" name="Oval 48"/>
          <p:cNvSpPr/>
          <p:nvPr/>
        </p:nvSpPr>
        <p:spPr>
          <a:xfrm>
            <a:off x="6629400" y="310896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867144" y="3017520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แต่ละคนสนใจ 2–4 รุ่น → มีทั้งคนที่รสนิยมซ้ำกันและคนที่ต่างกันสุดขั้ว</a:t>
            </a:r>
          </a:p>
        </p:txBody>
      </p:sp>
      <p:sp>
        <p:nvSpPr>
          <p:cNvPr id="51" name="Oval 50"/>
          <p:cNvSpPr/>
          <p:nvPr/>
        </p:nvSpPr>
        <p:spPr>
          <a:xfrm>
            <a:off x="6629400" y="351129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67144" y="3419856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มีกลุ่ม “สายยี่ห้อ” (Apple/Samsung) และ “สายงบ” (รุ่นกลาง) เพื่อทดสอบสัญญาณ Brand/Tier</a:t>
            </a:r>
          </a:p>
        </p:txBody>
      </p:sp>
      <p:sp>
        <p:nvSpPr>
          <p:cNvPr id="53" name="Oval 52"/>
          <p:cNvSpPr/>
          <p:nvPr/>
        </p:nvSpPr>
        <p:spPr>
          <a:xfrm>
            <a:off x="6629400" y="4133087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867144" y="4041648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ทุกรุ่นมีคนสนใจอย่างน้อย 1 คน → ไม่มีโหนดร้างในกราฟ</a:t>
            </a:r>
          </a:p>
        </p:txBody>
      </p:sp>
      <p:sp>
        <p:nvSpPr>
          <p:cNvPr id="55" name="Oval 54"/>
          <p:cNvSpPr/>
          <p:nvPr/>
        </p:nvSpPr>
        <p:spPr>
          <a:xfrm>
            <a:off x="6629400" y="4535423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67144" y="4443983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ภาพสินค้าดึงจาก Wikimedia Commons แล้วเก็บไว้ในโปรเจกต์ (แสดงได้แม้ไม่มีเน็ต)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ภาพในระบบแนะนำ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ทุกรุ่นในการ์ดมีภาพสินค้าจริง (ตามโจทย์ข้อ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6</a:t>
            </a:r>
          </a:p>
        </p:txBody>
      </p:sp>
      <p:pic>
        <p:nvPicPr>
          <p:cNvPr id="8" name="Picture 7" descr="phone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55" y="1188720"/>
            <a:ext cx="6156144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188720"/>
            <a:ext cx="3081528" cy="50292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77072" y="13258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F8833"/>
                </a:solidFill>
                <a:latin typeface="Leelawadee UI"/>
              </a:rPr>
              <a:t>ภาพถูกใช้ 2 ที่</a:t>
            </a:r>
          </a:p>
        </p:txBody>
      </p:sp>
      <p:sp>
        <p:nvSpPr>
          <p:cNvPr id="11" name="Oval 10"/>
          <p:cNvSpPr/>
          <p:nvPr/>
        </p:nvSpPr>
        <p:spPr>
          <a:xfrm>
            <a:off x="8577072" y="1874519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14816" y="1783080"/>
            <a:ext cx="2414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ในแอป: การ์ดผลการแนะนำ + คลังรุ่นทั้งหมด</a:t>
            </a:r>
          </a:p>
        </p:txBody>
      </p:sp>
      <p:sp>
        <p:nvSpPr>
          <p:cNvPr id="13" name="Oval 12"/>
          <p:cNvSpPr/>
          <p:nvPr/>
        </p:nvSpPr>
        <p:spPr>
          <a:xfrm>
            <a:off x="8577072" y="2295144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14816" y="2203704"/>
            <a:ext cx="2414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ในโน๊ตบุ๊ก: เซลล์แสดงผลลัพธ์พร้อมภาพทุกครั้ง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2715768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14816" y="2624328"/>
            <a:ext cx="2414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ในสไลด์: หน้าสาธิตผลการแนะนำ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182112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ที่มา: Wikimedia Commons (สัญญาอนุญาตเสรี) เก็บชื่อไฟล์ต้นทางใน data/phones.json เพื่อให้เครดิตได้ครบ — ตรวจทีละภาพว่าไม่ผิดรุ่น ไม่ใช่โลโก้ และไม่ใช่ภาพเปล่า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สถาปัตยกรรม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โครงสร้างกราฟและจำนวนข้อมูลจริงใน Neo4j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8872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1298448"/>
            <a:ext cx="5120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Schema ที่โหลดเข้า Neo4j 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72768"/>
            <a:ext cx="5120640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(User {user, age, group})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      │ [:LIKES]  38 เส้น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      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(Phone {phone_id, model, brand, tier, image})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      │ [:BY_BRAND] → (Brand {name})   11 โหนด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      │ [:IN_TIER]  → (Tier {name})     3 โหนด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188720"/>
            <a:ext cx="4956048" cy="19659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0840" y="13258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FF8833"/>
                </a:solidFill>
                <a:latin typeface="Leelawadee UI"/>
              </a:rPr>
              <a:t>ทำไมแยก Brand/Tier เป็นโหนด?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182880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58583" y="1737360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Brand/Tier ใช้เป็นสัญญาณที่สอง (content-based) ไม่ต้องพึ่งเพื่อน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2212848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58583" y="2121408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ช่วยแก้ cold start ของผู้ใช้ใหม่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259689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58583" y="2505456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คำนวณ “ยี่ห้อเดียวกันกี่รุ่น” ได้ด้วยการเดินกราฟ ไม่ต้องเขียนโค้ดนับเอง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FF8833"/>
                </a:solidFill>
                <a:latin typeface="Leelawadee UI"/>
              </a:rPr>
              <a:t>คำถามหลัก 3 hop ที่ระบบใช้จริง (ผลจากข้อมูลชุดนี้)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70332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3813048"/>
            <a:ext cx="493775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Hop 1-2-3 → รุ่นที่เพื่อนรสนิยมใกล้สนใจ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087368"/>
            <a:ext cx="4937759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(me:User {user: 'สมชาย'})-[:LIKES]-&gt;(shared)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(shared)&lt;-[:LIKES]-(other:User)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(other)-[:LIKES]-&gt;(rec:Phone)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WHERE NOT (me)-[:LIKES]-&gt;(rec)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RETURN rec.model, count(DISTINCT other) AS votes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ORDER BY votes DESC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03320"/>
            <a:ext cx="5184648" cy="25603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Leelawadee UI"/>
              </a:rPr>
              <a:t>ผลจริงจากกราฟ (เรียงตามจำนวนคน)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0624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realme C35</a:t>
            </a:r>
            <a:r>
              <a:rPr sz="1100" b="0">
                <a:solidFill>
                  <a:srgbClr val="9FB0CB"/>
                </a:solidFill>
                <a:latin typeface="Leelawadee UI"/>
              </a:rPr>
              <a:t>  2 คน: มินต์, เฟิร์น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Samsung Galaxy S23</a:t>
            </a:r>
            <a:r>
              <a:rPr sz="1100" b="0">
                <a:solidFill>
                  <a:srgbClr val="9FB0CB"/>
                </a:solidFill>
                <a:latin typeface="Leelawadee UI"/>
              </a:rPr>
              <a:t>  2 คน: ปวีณา, อนุชา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ASUS ROG Phone 6</a:t>
            </a:r>
            <a:r>
              <a:rPr sz="1100" b="0">
                <a:solidFill>
                  <a:srgbClr val="9FB0CB"/>
                </a:solidFill>
                <a:latin typeface="Leelawadee UI"/>
              </a:rPr>
              <a:t>  2 คน: ชัย, ธนกร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realme 16 Pro</a:t>
            </a:r>
            <a:r>
              <a:rPr sz="1100" b="0">
                <a:solidFill>
                  <a:srgbClr val="9FB0CB"/>
                </a:solidFill>
                <a:latin typeface="Leelawadee UI"/>
              </a:rPr>
              <a:t>  2 คน: ธนกร, เฟิร์น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Samsung Galaxy A55</a:t>
            </a:r>
            <a:r>
              <a:rPr sz="1100" b="0">
                <a:solidFill>
                  <a:srgbClr val="9FB0CB"/>
                </a:solidFill>
                <a:latin typeface="Leelawadee UI"/>
              </a:rPr>
              <a:t>  1 คน: อนุชา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ระบบให้คะแนน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4 วิธี + วิธีผสม (เลือกได้ในแอป)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887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188720"/>
            <a:ext cx="68580" cy="2331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13350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38BDF8"/>
                </a:solidFill>
                <a:latin typeface="Leelawadee UI"/>
              </a:rPr>
              <a:t>1) นับโหวตเพื่อน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755648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คะแนน = จำนวนคนที่สนใจรุ่นนั้น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count(DISTINCT other) → 1 คน = 1 เสียง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ข้อดี: เข้าใจง่าย | ข้อเสีย: ทุกคนน้ำหนักเท่ากัน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68580" cy="2331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13350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34D399"/>
                </a:solidFill>
                <a:latin typeface="Leelawadee UI"/>
              </a:rPr>
              <a:t>2) ถ่วงน้ำหนัก (Jaccard)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755648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คะแนน = Σ Jaccard(เรา, คนนั้น)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Jaccard = |สนใจร่วม| ÷ |รุ่นของสองคนรวมกัน|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คนรสนิยมใกล้เราสุดมีเสียงมากสุด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7033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49808" y="3703320"/>
            <a:ext cx="68580" cy="2331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38496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FBBF24"/>
                </a:solidFill>
                <a:latin typeface="Leelawadee UI"/>
              </a:rPr>
              <a:t>3) ตามยี่ห้อ/ระดับราคา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70248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นับรุ่นที่เราเคยสนใจซึ่งใช้ยี่ห้อเดียวกัน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+ อยู่ระดับราคาเดียวกัน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ใช้ได้กับผู้ใช้ใหม่ (cold start)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68580" cy="233172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64808" y="38496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FF8833"/>
                </a:solidFill>
                <a:latin typeface="Leelawadee UI"/>
              </a:rPr>
              <a:t>4) ผสมสองสัญญาณ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270248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0.6 × (คะแนนเพื่อน normalize)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+ 0.4 × (คะแนนยี่ห้อ/ราคา normalize)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กันปัญหา “แนะนำของนอกงบ” เช่นงบกลางแต่ได้เรือธง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2636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ทุกวิธีใช้ข้อมูลชุดเดียวกันและผลถูกตรวจสอบเทียบกันแล้ว (ดูหน้าผลการทดสอบ)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สาธิตการใช้งาน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เว็บแอป Streamlit ต่อ Neo4j — หน้าแนะนำมือถือ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9</a:t>
            </a:r>
          </a:p>
        </p:txBody>
      </p:sp>
      <p:pic>
        <p:nvPicPr>
          <p:cNvPr id="8" name="Picture 7" descr="app_re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63" y="1143000"/>
            <a:ext cx="621436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สาธิตการใช้งาน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ผลจริง: คำแนะนำสำหรับ สมชาย (พร้อมภาพสินค้า)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1556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Leelawadee UI"/>
              </a:rPr>
              <a:t>รุ่นที่ สมชาย สนใจอยู่แล้ว 4 รุ่น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08760"/>
            <a:ext cx="1207008" cy="2423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galaxy-s24-ult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42" y="1618488"/>
            <a:ext cx="89154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" y="2862072"/>
            <a:ext cx="950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Samsung Galaxy S24 Ultra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54680"/>
            <a:ext cx="950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เรือธง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5" y="1508760"/>
            <a:ext cx="1207008" cy="2423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honor-magic6-p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134" y="1618488"/>
            <a:ext cx="559251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76272" y="2862072"/>
            <a:ext cx="950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Honor Magic6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3154680"/>
            <a:ext cx="950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เรือธง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3" y="1508760"/>
            <a:ext cx="1207008" cy="2423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xiaomi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693" y="1618488"/>
            <a:ext cx="893028" cy="1188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74720" y="2862072"/>
            <a:ext cx="950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Xiaomi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154680"/>
            <a:ext cx="950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เรือธง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1508760"/>
            <a:ext cx="1207008" cy="2423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xperia-1-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719072"/>
            <a:ext cx="987552" cy="9875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73168" y="2862072"/>
            <a:ext cx="950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Sony Xperia 1 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154680"/>
            <a:ext cx="950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เรือธง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11556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Leelawadee UI"/>
              </a:rPr>
              <a:t>ระบบแนะนำ (ถ่วงน้ำหนัก + ผสม)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508760"/>
            <a:ext cx="1700784" cy="30632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galaxy-s2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746321"/>
            <a:ext cx="1481328" cy="111593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8776" y="30449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Samsung Galaxy S23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3337560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FBBF24"/>
                </a:solidFill>
                <a:latin typeface="Leelawadee UI"/>
              </a:rPr>
              <a:t>คะแนน 0.944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3557015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เพื่อน: ปวีณา, อนุชา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3776472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เพื่อนที่รสนิยมใกล้ + ยี่ห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1508760"/>
            <a:ext cx="1700784" cy="30632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rog-phone-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189" y="1618488"/>
            <a:ext cx="771525" cy="1371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37576" y="30449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ASUS ROG Phone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6" y="3337560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FBBF24"/>
                </a:solidFill>
                <a:latin typeface="Leelawadee UI"/>
              </a:rPr>
              <a:t>คะแนน 0.864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576" y="3557015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เพื่อน: ชัย, ธนกร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3776472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เพื่อนที่รสนิยมใกล้ + ยี่ห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1508760"/>
            <a:ext cx="1700784" cy="30632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c3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4402" y="1618488"/>
            <a:ext cx="1028700" cy="1371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66376" y="30449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realme C35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6376" y="3337560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FBBF24"/>
                </a:solidFill>
                <a:latin typeface="Leelawadee UI"/>
              </a:rPr>
              <a:t>คะแนน 0.6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66376" y="3557015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เพื่อน: มินต์, เฟิร์น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3776472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9FB0CB"/>
                </a:solidFill>
                <a:latin typeface="Leelawadee UI"/>
              </a:rPr>
              <a:t>เพื่อนที่รสนิยมใกล้สนใจ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4114800"/>
            <a:ext cx="10698480" cy="2148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0120" y="422452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FF8833"/>
                </a:solidFill>
                <a:latin typeface="Leelawadee UI"/>
              </a:rPr>
              <a:t>ทำไมได้รุ่นนี้ — อธิบายย้อนหลังได้ทุกคำแนะนำ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590288"/>
            <a:ext cx="10241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Samsung Galaxy S23</a:t>
            </a:r>
            <a:r>
              <a:rPr sz="1050" b="0">
                <a:solidFill>
                  <a:srgbClr val="9FB0CB"/>
                </a:solidFill>
                <a:latin typeface="Leelawadee UI"/>
              </a:rPr>
              <a:t>   คะแนน 0.944  |  เพื่อน ปวีณา, อนุชา  |  เพราะสนใจ Galaxy S24 Ultra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ASUS ROG Phone 6</a:t>
            </a:r>
            <a:r>
              <a:rPr sz="1050" b="0">
                <a:solidFill>
                  <a:srgbClr val="9FB0CB"/>
                </a:solidFill>
                <a:latin typeface="Leelawadee UI"/>
              </a:rPr>
              <a:t>   คะแนน 0.864  |  เพื่อน ชัย, ธนกร  |  เพราะสนใจ Xiaomi 14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1">
                <a:solidFill>
                  <a:srgbClr val="E9EFFA"/>
                </a:solidFill>
                <a:latin typeface="Leelawadee UI"/>
              </a:rPr>
              <a:t>realme C35</a:t>
            </a:r>
            <a:r>
              <a:rPr sz="1050" b="0">
                <a:solidFill>
                  <a:srgbClr val="9FB0CB"/>
                </a:solidFill>
                <a:latin typeface="Leelawadee UI"/>
              </a:rPr>
              <a:t>   คะแนน 0.6  |  เพื่อน มินต์, เฟิร์น  |  เพราะสนใจ Xperia 1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80644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คะแนนผสม = 0.6 × เพื่อน (Jaccard) + 0.4 × ยี่ห้อ/ระดับราคา — ตัวเลขจริงจากข้อมูลชุดนี้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สาธิตการใช้งาน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ใครรสนิยมใกล้ สมชาย (ตารางจริงจาก Cypher)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43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Jaccard = |รุ่นที่สนใจร่วมกัน| ÷ |รุ่นของสองคนรวมกัน| — ยิ่งใกล้ 1 ยิ่งเหมือนกัน และยิ่งมีน้ำหนักโหวตมาก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10698480" cy="3291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Leelawadee UI"/>
              </a:rPr>
              <a:t>ผู้ใช้ · รุ่นที่สนใจร่วม · ค่า Jaccard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มินต์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1284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Sony Xperia 1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Leelawadee UI"/>
              </a:rPr>
              <a:t>Jaccard 0.2   (1 รุ่น)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420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ชัย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54203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Xiaomi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420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Leelawadee UI"/>
              </a:rPr>
              <a:t>Jaccard 0.167   (1 รุ่น)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7121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ธนกร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71215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Xiaomi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71215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Leelawadee UI"/>
              </a:rPr>
              <a:t>Jaccard 0.167   (1 รุ่น)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0039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ปวีณา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200399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Samsung Galaxy S24 Ultra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39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Leelawadee UI"/>
              </a:rPr>
              <a:t>Jaccard 0.167   (1 รุ่น)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29583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E9EFFA"/>
                </a:solidFill>
                <a:latin typeface="Leelawadee UI"/>
              </a:rPr>
              <a:t>อนุชา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529583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9FB0CB"/>
                </a:solidFill>
                <a:latin typeface="Leelawadee UI"/>
              </a:rPr>
              <a:t>Samsung Galaxy S24 Ultra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95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BBF24"/>
                </a:solidFill>
                <a:latin typeface="Leelawadee UI"/>
              </a:rPr>
              <a:t>Jaccard 0.167   (1 รุ่น)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148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ข้อสังเกต: มี 7 คนที่มีรุ่นสนใจร่วมกับ สมชาย — น้ำหนักโหวตของแต่ละคนไม่เท่ากันตามค่านี้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120640"/>
            <a:ext cx="10698480" cy="118872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0120" y="52578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ทำไมต้อง K จุดนี้: ถ้าใช้แค่ “นับโหวต” คนที่สนใจตรงกันเพียงรุ่นเดียวจะมีเสียงเท่ากับ คนที่รสนิยมเหมือนเราเกือบทั้งหมด — การถ่วงด้วย Jaccard แก้ปัญหานี้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สาธิตการใช้งาน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เห็นภาพความสัมพันธ์: กราฟผู้ใช้ ↔ รุ่นมือถือ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12</a:t>
            </a:r>
          </a:p>
        </p:txBody>
      </p:sp>
      <p:pic>
        <p:nvPicPr>
          <p:cNvPr id="8" name="Picture 7" descr="graph_somc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05505"/>
            <a:ext cx="7772400" cy="39499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143000"/>
            <a:ext cx="2715768" cy="5074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15400" y="12801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FF8833"/>
                </a:solidFill>
                <a:latin typeface="Leelawadee UI"/>
              </a:rPr>
              <a:t>อ่านกราฟ</a:t>
            </a:r>
          </a:p>
        </p:txBody>
      </p:sp>
      <p:sp>
        <p:nvSpPr>
          <p:cNvPr id="11" name="Oval 10"/>
          <p:cNvSpPr/>
          <p:nvPr/>
        </p:nvSpPr>
        <p:spPr>
          <a:xfrm>
            <a:off x="8915400" y="1828800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53144" y="173736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0">
                <a:solidFill>
                  <a:srgbClr val="E9EFFA"/>
                </a:solidFill>
                <a:latin typeface="Leelawadee UI"/>
              </a:rPr>
              <a:t>จุดส้ม = ผู้ใช้ที่เลือก</a:t>
            </a:r>
          </a:p>
        </p:txBody>
      </p:sp>
      <p:sp>
        <p:nvSpPr>
          <p:cNvPr id="13" name="Oval 12"/>
          <p:cNvSpPr/>
          <p:nvPr/>
        </p:nvSpPr>
        <p:spPr>
          <a:xfrm>
            <a:off x="8915400" y="2212848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53144" y="2121408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0">
                <a:solidFill>
                  <a:srgbClr val="E9EFFA"/>
                </a:solidFill>
                <a:latin typeface="Leelawadee UI"/>
              </a:rPr>
              <a:t>จุดฟ้า = คนรสนิยมใกล้</a:t>
            </a:r>
          </a:p>
        </p:txBody>
      </p:sp>
      <p:sp>
        <p:nvSpPr>
          <p:cNvPr id="15" name="Oval 14"/>
          <p:cNvSpPr/>
          <p:nvPr/>
        </p:nvSpPr>
        <p:spPr>
          <a:xfrm>
            <a:off x="8915400" y="259689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53144" y="2505456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0">
                <a:solidFill>
                  <a:srgbClr val="E9EFFA"/>
                </a:solidFill>
                <a:latin typeface="Leelawadee UI"/>
              </a:rPr>
              <a:t>จุดเหลือง = รุ่นที่สนใจแล้ว</a:t>
            </a:r>
          </a:p>
        </p:txBody>
      </p:sp>
      <p:sp>
        <p:nvSpPr>
          <p:cNvPr id="17" name="Oval 16"/>
          <p:cNvSpPr/>
          <p:nvPr/>
        </p:nvSpPr>
        <p:spPr>
          <a:xfrm>
            <a:off x="8915400" y="2980944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53144" y="2889503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0">
                <a:solidFill>
                  <a:srgbClr val="E9EFFA"/>
                </a:solidFill>
                <a:latin typeface="Leelawadee UI"/>
              </a:rPr>
              <a:t>จุดเขียว = รุ่นที่ระบบแนะนำ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3364991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53144" y="3273551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0">
                <a:solidFill>
                  <a:srgbClr val="E9EFFA"/>
                </a:solidFill>
                <a:latin typeface="Leelawadee UI"/>
              </a:rPr>
              <a:t>เส้นประเขียว = ทางเดิน 3 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794759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กราฟสร้างในตัวแอป (ไม่ใช่ภาพนิ่ง) — เปลี่ยนผู้ใช้/วิธีให้คะแนนแล้ววาดใหม่ทันที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สาธิตการใช้งาน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เดโมสด: แก้ข้อมูลแล้วคำแนะนำเปลี่ยนทันที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8872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29844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FF8833"/>
                </a:solidFill>
                <a:latin typeface="Leelawadee UI"/>
              </a:rPr>
              <a:t>กดเพิ่มความสนใจ 1 รุ่น แล้วดูผลก่อน–หลัง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737360"/>
            <a:ext cx="5074920" cy="292608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1847088"/>
            <a:ext cx="470915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Leelawadee UI"/>
              </a:rPr>
              <a:t>สิ่งที่แอปทำตอนกดปุ่ม “เพิ่มความสนใจ”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21408"/>
            <a:ext cx="4709159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// เพิ่มความสนใจใหม่ลงกราฟ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MATCH (u:User {user: 'สมชาย'}), (p:Phone {phone_id: 'P01'})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MERGE (u)-[:LIKES]-&gt;(p)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// แล้วถามคำแนะนำเดิมซ้ำทันที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// ไม่ต้องเทรนโมเดลใหม่ ไม่ต้องรอ batch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C9E4FF"/>
                </a:solidFill>
                <a:latin typeface="Leelawadee UI"/>
              </a:rPr>
              <a:t>// เพราะคำแนะนำคำนวณสดจากการเดินกราฟ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047488" cy="36576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29400" y="12984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Leelawadee UI"/>
              </a:rPr>
              <a:t>Cold start: ผู้ใช้ใหม่ที่ยังไม่มีเพื่อนรสนิยม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3736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เพิ่มผู้ใช้ใหม่ที่สนใจ Samsung Galaxy S25 (รุ่นที่ยังไม่มีใครสนใจ) → สัญญาณ “เพื่อน” ว่างเปล่า แต่ระบบยังแนะนำได้จากโหนด Brand (Samsung) และ Tier (เรือธง)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Leelawadee UI"/>
              </a:rPr>
              <a:t>ตัวอย่างผลจากสัญญาณยี่ห้อ/ราคา (ผู้ใช้จริง สมชาย)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Samsung Galaxy S23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0632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ยี่ห้อตรง 1 · ราคาตรง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375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OPPO Find X6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337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ยี่ห้อตรง 0 · ราคาตรง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1187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E9EFFA"/>
                </a:solidFill>
                <a:latin typeface="Leelawadee UI"/>
              </a:rPr>
              <a:t>OPPO Find X7 Ultra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61187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>
                <a:solidFill>
                  <a:srgbClr val="9FB0CB"/>
                </a:solidFill>
                <a:latin typeface="Leelawadee UI"/>
              </a:rPr>
              <a:t>ยี่ห้อตรง 0 · ราคาตรง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2920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5138928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>
                <a:solidFill>
                  <a:srgbClr val="E9EFFA"/>
                </a:solidFill>
                <a:latin typeface="Leelawadee UI"/>
              </a:rPr>
              <a:t>สะพานเชื่อมกับของเดิม: ระบบนี้ใช้ซ้ำไอเดีย “เพื่อนของเพื่อน” ที่ฝึกในคลาส แต่ย้ายมาคิดบน กราฟทั้งหมด → เขียนสั้นกว่า อ่านง่ายกว่า และเพิ่มสัญญาณยี่ห้อ/ราคาเข้ามาแก้จุดอ่อน เรื่องผู้ใช้ใหม่ได้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ตรวจสอบด้วยข้อมูลจริง ไม่ใช่แค่ “รันผ่าน”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1234440"/>
            <a:ext cx="68580" cy="1051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Leelawade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533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E9EFFA"/>
                </a:solidFill>
                <a:latin typeface="Leelawadee UI"/>
              </a:rPr>
              <a:t>สอง backend ให้ผลตรงกัน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19072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เทียบ Cypher (Neo4j) กับ backend สำรองในหน่วยความจำ ของผู้ใช้ทั้ง 12 คน × 5 การตรวจ — ผลตรงกันครบทุกคน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441448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9808" y="2441448"/>
            <a:ext cx="68580" cy="1051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25877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Leelawade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6032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E9EFFA"/>
                </a:solidFill>
                <a:latin typeface="Leelawadee UI"/>
              </a:rPr>
              <a:t>โน๊ตบุ๊กรันได้จริงทุกเซลล์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26080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สร้างโน๊ตบุ๊กใหม่จากข้อมูลชุดเดียวกัน รันทุกเซลล์บน Neo4j ในเครื่อง มี output จริงฝังในไฟล์ และมี assertion ท้ายไฟล์ยืนยันข้อมูลกลับสู่สภาพเดิม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648456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49808" y="3648456"/>
            <a:ext cx="68580" cy="1051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37947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1">
                <a:solidFill>
                  <a:srgbClr val="FBBF24"/>
                </a:solidFill>
                <a:latin typeface="Leelawade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67328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E9EFFA"/>
                </a:solidFill>
                <a:latin typeface="Leelawadee UI"/>
              </a:rPr>
              <a:t>โหมดไม่มี Neo4j ต้องไม่พัง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33088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ปิดการเชื่อมต่อฐานข้อมูลแล้วเปิดแอปใหม่ — สลับไปใช้ backend สำรองอัตโนมัติ และภาพสินค้าแสดงครบ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855464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49808" y="4855464"/>
            <a:ext cx="68580" cy="1051560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" y="500176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74336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50" b="1">
                <a:solidFill>
                  <a:srgbClr val="E9EFFA"/>
                </a:solidFill>
                <a:latin typeface="Leelawadee UI"/>
              </a:rPr>
              <a:t>ภาพต้องถูกต้อง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40096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9FB0CB"/>
                </a:solidFill>
                <a:latin typeface="Leelawadee UI"/>
              </a:rPr>
              <a:t>ทำ contact sheet รวมภาพทั้ง 23 รุ่น ตรวจทีละภาพว่าไม่ผิดรุ่น/ไม่ใช่โลโก้/ไม่ใช่ภาพเปล่า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ข้อจำกัด &amp; ต่อยอด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งานนี้ทำอะไรได้ และยังขาดอะไร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88720"/>
            <a:ext cx="5349240" cy="50292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3258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F87171"/>
                </a:solidFill>
                <a:latin typeface="Leelawadee UI"/>
              </a:rPr>
              <a:t>ข้อจำกัดที่ควรพูดตอนนำเสนอ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874519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97864" y="1783080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ข้อมูลความสนใจมี 38 เส้น — น้อย (sparsity) ถ้าเก็บจากผู้ใช้จริงจะแม่นขึ้น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27685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97864" y="2185415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ยังไม่ใช้สเปกเครื่อง (RAM/กล้อง/แบตเตอรี่) เป็นสัญญาณ จึงตอบ “รุ่นไหนกล้องดีสุด” ไม่ได้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2679191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7864" y="2587751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ระดับราคาแบ่งหยาบ 3 ระดับ ถ้าใช้ช่วงงบเป็นตัวเลขจริงจะแนะนำตรงใจกว่า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081527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97864" y="2990087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ผู้ใช้/ความสนใจเป็นข้อมูลสมมติจากการจัดชุดเพื่อการเรียนการสอน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3483863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97864" y="3392423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คะแนนไม่ได้บอกความมั่นใจ (confidence) ของคำแนะนำ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188720"/>
            <a:ext cx="5047488" cy="502920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29400" y="13258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Leelawadee UI"/>
              </a:rPr>
              <a:t>ต่อยอดได้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1874519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67144" y="1783080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เก็บข้อมูลจริงด้วยแบบสอบถามในห้องเรียน แล้วโหลดเข้าฐานข้อมูลเดิมได้ทันที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2276856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67144" y="2185415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เพิ่มโหนดสเปก (Camera, Battery, Chipset) แล้วเป็นระบบแนะนำแบบหลายเกณฑ์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2679191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7144" y="2587751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เพิ่มน้ำหนักตามความสำคัญที่ผู้ใช้ให้ (เช่น เน้นกล้องมากกว่าราคา)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3081527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67144" y="2990087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เก็บประวัติการกดดู/เทียบรุ่น แล้วเปลี่ยนจาก “ความสนใจ” เป็นพฤติกรรมจริง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3483863"/>
            <a:ext cx="77724" cy="77724"/>
          </a:xfrm>
          <a:prstGeom prst="ellipse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67144" y="3392423"/>
            <a:ext cx="4334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0">
                <a:solidFill>
                  <a:srgbClr val="E9EFFA"/>
                </a:solidFill>
                <a:latin typeface="Leelawadee UI"/>
              </a:rPr>
              <a:t>deploy บน Neo4j Aura + Streamlit Community Cloud ให้เปิดลิงก์เดโมได้จากที่ไหนก็ได้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566928"/>
          </a:xfrm>
          <a:prstGeom prst="rect">
            <a:avLst/>
          </a:prstGeom>
          <a:solidFill>
            <a:srgbClr val="FF8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1">
                <a:solidFill>
                  <a:srgbClr val="FF8833"/>
                </a:solidFill>
                <a:latin typeface="Leelawadee UI"/>
              </a:rPr>
              <a:t>สรุป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>
                <a:solidFill>
                  <a:srgbClr val="E9EFFA"/>
                </a:solidFill>
                <a:latin typeface="Leelawadee UI"/>
              </a:rPr>
              <a:t>ส่งครบ 4 ข้อของโจทย์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6574536"/>
            <a:ext cx="8686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9FB0CB"/>
                </a:solidFill>
                <a:latin typeface="Leelawadee UI"/>
              </a:rPr>
              <a:t>ระบบแนะนำมือถือ · Neo4j + Streamlit · จัดทำโดย รหัส 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574536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>
                <a:solidFill>
                  <a:srgbClr val="FF8833"/>
                </a:solidFill>
                <a:latin typeface="Leelawade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34416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FF8833"/>
                </a:solidFill>
                <a:latin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258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E9EFFA"/>
                </a:solidFill>
                <a:latin typeface="Leelawadee UI"/>
              </a:rPr>
              <a:t>สไลด์นำเสนอ (ไฟล์นี้)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55064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Leelawadee UI"/>
              </a:rPr>
              <a:t>slides/นำเสนอระบบแนะนำมือถือ_007.pptx + .pdf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194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30428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FF8833"/>
                </a:solidFill>
                <a:latin typeface="Leelawade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286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E9EFFA"/>
                </a:solidFill>
                <a:latin typeface="Leelawadee UI"/>
              </a:rPr>
              <a:t>โน๊ตบุ๊กอธิบายวิธีทำ (รันบน Colab)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15184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Leelawadee UI"/>
              </a:rPr>
              <a:t>https://colab.research.google.com/gist/Nasak16/8667b219bbff8253335ec78f78b5c79e/PhoneRecommender_Neo4j_007.ipynb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15468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2644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FF8833"/>
                </a:solidFill>
                <a:latin typeface="Leelawade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E9EFFA"/>
                </a:solidFill>
                <a:latin typeface="Leelawadee UI"/>
              </a:rPr>
              <a:t>โค้ดระบบทั้งหมดบน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75304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Leelawadee UI"/>
              </a:rPr>
              <a:t>https://github.com/Nasak16/phone-recommender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148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800" b="1">
                <a:solidFill>
                  <a:srgbClr val="FF8833"/>
                </a:solidFill>
                <a:latin typeface="Leelawade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E9EFFA"/>
                </a:solidFill>
                <a:latin typeface="Leelawadee UI"/>
              </a:rPr>
              <a:t>หน้า index รวมงานทุกชิ้น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35424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Leelawadee UI"/>
              </a:rPr>
              <a:t>https://nasak16.github.io/homework/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212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" y="5321808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0">
                <a:solidFill>
                  <a:srgbClr val="E9EFFA"/>
                </a:solidFill>
                <a:latin typeface="Leelawadee UI"/>
              </a:rPr>
              <a:t>ระบบนี้เป็นของเราเองทั้งหมด: ออกแบบข้อมูลเอง (12 คน × 23 รุ่น × 38 ความสนใจ) ออกแบบโครงสร้างกราฟเอง เขียนสูตรให้คะแนน 4 วิธีเอง และแสดงภาพสินค้าจริงในผลการแนะนำ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200" b="1">
                <a:solidFill>
                  <a:srgbClr val="FF8833"/>
                </a:solidFill>
                <a:latin typeface="Leelawadee UI"/>
              </a:rPr>
              <a:t>ขอบคุณครับ — ยินดีสาธิตสดในแอปและตอบคำถาม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