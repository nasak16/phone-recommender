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Relationship Id="rId6" Type="http://schemas.openxmlformats.org/officeDocument/2006/relationships/image" Target="../media/image7.jpg"/><Relationship Id="rId7" Type="http://schemas.openxmlformats.org/officeDocument/2006/relationships/image" Target="../media/image8.jpg"/><Relationship Id="rId8" Type="http://schemas.openxmlformats.org/officeDocument/2006/relationships/image" Target="../media/image9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822960" y="914400"/>
            <a:ext cx="91440" cy="14630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1143000" y="868680"/>
            <a:ext cx="10424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8BDF8"/>
                </a:solidFill>
                <a:latin typeface="Leelawadee UI"/>
              </a:rPr>
              <a:t>งาน: พัฒนาระบบแนะนำเป็นระบบของตัวเอง · รหัส 007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43000" y="123444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5000" b="1">
                <a:solidFill>
                  <a:srgbClr val="E9EFFA"/>
                </a:solidFill>
                <a:latin typeface="Leelawadee UI"/>
              </a:rPr>
              <a:t>ระบบแนะนำมือถือ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43000" y="224028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900" b="1">
                <a:solidFill>
                  <a:srgbClr val="FF8833"/>
                </a:solidFill>
                <a:latin typeface="Leelawadee UI"/>
              </a:rPr>
              <a:t>PHONE RECOMMENDER SYSTEM · Neo4j (Graph DB) + 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3000" y="2926080"/>
            <a:ext cx="10424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ข้อมูลของเราเอง 12 คน × 23 รุ่น × 38 ความสนใจ (ไม่ใช้ dataset สำเร็จรูป)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ผลการแนะนำแสดง “ภาพสินค้าจริง” ทุกครั้ง + บอกเหตุผลได้ว่าเพราะใคร/เพราะรุ่นไหน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450" b="0">
                <a:solidFill>
                  <a:srgbClr val="E9EFFA"/>
                </a:solidFill>
                <a:latin typeface="Leelawadee UI"/>
              </a:rPr>
              <a:t>งานแนวเดียวกับตัวอย่างในวิชา แต่เปลี่ยนโดเมนเป็นมือถือ และใช้สัญญาณ “ยี่ห้อ + ระดับราคา”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4300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114300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4300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ผู้ใช้ในระบบ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2044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352044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044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(11 ยี่ห้อ)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89788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589788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89788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480560"/>
            <a:ext cx="2103120" cy="1188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275320" y="4626864"/>
            <a:ext cx="21031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75320" y="5138928"/>
            <a:ext cx="2103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วิธีให้คะแนน + ผสม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3000" y="594360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9FB0CB"/>
                </a:solidFill>
                <a:latin typeface="Leelawadee UI"/>
              </a:rPr>
              <a:t>สาธิตการใช้งาน: เว็บแอป Streamlit 6 หน้า (Dashboard → Admin) · ข้อมูลบน Neo4j · โค้ด/สไลด์/โน๊ตบุ๊กอยู่บน GitHub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AGENDA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หัวข้อที่จะนำเสนอ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453895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91640" y="140817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โจทย์และสิ่งที่ส่ง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70992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งาน 4 ข้อของอาจารย์ → ส่งครบอะไรบ้าง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67128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295144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40" y="2249424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แนวคิดระบบแนะนำบนกราฟ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691640" y="2551176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ทำไมข้อมูล “ใครสนใจรุ่นไหน” ต้องใช้กราฟ + การเดิน 3 hop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008376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136392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691640" y="3090672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ข้อมูลและสถาปัตยกรรม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91640" y="3392424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ข้อมูลชุดของเรา + Neo4j + Streamlit + GitHub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849624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3977639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91640" y="3931920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ระบบทำงานจริง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91640" y="4233672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ผลการแนะนำ 5 วิธี + ภาพสินค้าจริง + อธิบายเหตุผลย้อนหลังได้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4690872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14400" y="4818888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773168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สาธิตการใช้งาน (Like &amp; Rate)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91640" y="5074920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เพิ่มความสนใจ/ให้ดาว แล้วคำแนะนำเปลี่ยนทันที ไม่ต้องเทรนใหม่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5532120"/>
            <a:ext cx="10698480" cy="713232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914400" y="5660136"/>
            <a:ext cx="7315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200" b="1">
                <a:solidFill>
                  <a:srgbClr val="FF8833"/>
                </a:solidFill>
                <a:latin typeface="Leelawadee UI"/>
              </a:rPr>
              <a:t>06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691640" y="5614416"/>
            <a:ext cx="47548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550" b="1">
                <a:solidFill>
                  <a:srgbClr val="E9EFFA"/>
                </a:solidFill>
                <a:latin typeface="Leelawadee UI"/>
              </a:rPr>
              <a:t>การทดสอบและลิงก์งาน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5916168"/>
            <a:ext cx="95097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ผลตรวจสอบจริง + Colab + GitHub + หน้า index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โจทย์ &amp; สิ่งที่ส่ง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งานที่อาจารย์สั่ง 4 ข้อ — ส่งครบทุกข้อ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325880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325880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490472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1453895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Present ด้วย PowerPoint + สาธิตการใช้งานระบบ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1856231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สไลด์ 16 หน้า (ไฟล์นี้) + เดโมสดในแอป Streamlit + ระบบแสดง “ภาพมือถือจริง” ในผลการแนะนำ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96312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96312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660904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00200" y="2624328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ข้อมูล PowerPoint ไว้ใน GitHub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600200" y="3026664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ใส่ทั้ง .pptx และ .pdf ไว้ในโฟลเดอร์ slides/ ของ repo (ดูได้โดยไม่ต้องติดตั้งอะไร)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66744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66744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831335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00200" y="3794759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เอาการบ้านทุกอันไว้ใน 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00200" y="4197096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ทุกชิ้นงานมี repo ของตัวเอง และมี repo กลาง homework รวมทุกงานไว้ที่เดียว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37176"/>
            <a:ext cx="10698480" cy="1005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37176"/>
            <a:ext cx="68580" cy="100584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4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00200" y="4965192"/>
            <a:ext cx="9601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600" b="1">
                <a:solidFill>
                  <a:srgbClr val="E9EFFA"/>
                </a:solidFill>
                <a:latin typeface="Leelawadee UI"/>
              </a:rPr>
              <a:t>จัดหน้า index ให้ลิงก์กับงานทุกอัน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600200" y="5367528"/>
            <a:ext cx="9601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9FB0CB"/>
                </a:solidFill>
                <a:latin typeface="Leelawadee UI"/>
              </a:rPr>
              <a:t>หน้าเว็บ GitHub Pages ลิงก์ทุก repo พร้อมคำอธิบายและวันที่อัปเดตล่าสุด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แนวคิด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ทำไมงานนี้ต้องใช้ฐานข้อมูลกราฟ?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88720"/>
            <a:ext cx="55778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0">
                <a:solidFill>
                  <a:srgbClr val="E9EFFA"/>
                </a:solidFill>
                <a:latin typeface="Leelawadee UI"/>
              </a:rPr>
              <a:t>ข้อมูล “ใครสนใจมือถือรุ่นไหน” คือข้อมูลความสัมพันธ์ล้วน ๆ ถ้าเก็บเป็นตารางต้อง JOIN หลายชั้นกว่าจะตอบได้ แต่ในกราฟเขียนครั้งเดียวจบ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2011680"/>
            <a:ext cx="5577840" cy="228600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32688" y="2121408"/>
            <a:ext cx="521207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คำแนะนำทั้งระบบเขียนด้วย Cypher ไม่กี่บรรทัด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2395728"/>
            <a:ext cx="5212079" cy="176479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(shared:Phone)&lt;-[:LIKES]-(other:User)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4434840"/>
            <a:ext cx="55778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ขั้นตอนการเดิน 3 hop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4754880"/>
            <a:ext cx="557784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1. ดูรุ่นที่ผู้ใช้สนใจ (4 รุ่นของ สมชาย)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2. หาคนอื่นที่สนใจรุ่นเดียวกัน = รสนิยมใกล้กัน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3. เก็บรุ่นที่คนกลุ่มนั้นสนใจ แต่ผู้ใช้ยังไม่สนใจ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4. ให้คะแนน → เรียงอันดับ → แสดงภาพสินค้า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0" y="1188720"/>
            <a:ext cx="4864608" cy="521208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6812280" y="1325880"/>
            <a:ext cx="44805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ทำไมไม่ใช้ตาราง (SQL) เฉย ๆ?</a:t>
            </a:r>
          </a:p>
        </p:txBody>
      </p:sp>
      <p:sp>
        <p:nvSpPr>
          <p:cNvPr id="16" name="Oval 15"/>
          <p:cNvSpPr/>
          <p:nvPr/>
        </p:nvSpPr>
        <p:spPr>
          <a:xfrm>
            <a:off x="681228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7050024" y="1737360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กราฟเดินความสัมพันธ์ได้ลึกไม่จำกัดชั้น โดยไม่ต้อง JOIN เพิ่มทุกชั้น</a:t>
            </a:r>
          </a:p>
        </p:txBody>
      </p:sp>
      <p:sp>
        <p:nvSpPr>
          <p:cNvPr id="18" name="Oval 17"/>
          <p:cNvSpPr/>
          <p:nvPr/>
        </p:nvSpPr>
        <p:spPr>
          <a:xfrm>
            <a:off x="6812280" y="224942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7050024" y="2157984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ถามแบบ “เพื่อนของเพื่อนสนใจอะไร” ได้ทันที (เส้นทาง 3 hop)</a:t>
            </a:r>
          </a:p>
        </p:txBody>
      </p:sp>
      <p:sp>
        <p:nvSpPr>
          <p:cNvPr id="20" name="Oval 19"/>
          <p:cNvSpPr/>
          <p:nvPr/>
        </p:nvSpPr>
        <p:spPr>
          <a:xfrm>
            <a:off x="6812280" y="26700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7050024" y="2578608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นับซ้ำให้เองด้วย count(DISTINCT …) — 1 คน = 1 เสียง</a:t>
            </a:r>
          </a:p>
        </p:txBody>
      </p:sp>
      <p:sp>
        <p:nvSpPr>
          <p:cNvPr id="22" name="Oval 21"/>
          <p:cNvSpPr/>
          <p:nvPr/>
        </p:nvSpPr>
        <p:spPr>
          <a:xfrm>
            <a:off x="6812280" y="3090672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7050024" y="2999232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เพิ่มผู้ใช้/รุ่นใหม่แล้วแนะนำได้ทันที ไม่ต้องเทรนโมเดลใหม่</a:t>
            </a:r>
          </a:p>
        </p:txBody>
      </p:sp>
      <p:sp>
        <p:nvSpPr>
          <p:cNvPr id="24" name="Oval 23"/>
          <p:cNvSpPr/>
          <p:nvPr/>
        </p:nvSpPr>
        <p:spPr>
          <a:xfrm>
            <a:off x="681228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050024" y="3419856"/>
            <a:ext cx="42428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อธิบายย้อนหลังได้ว่าคำแนะนำมาจากใครและรุ่นไหน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812280" y="3931919"/>
            <a:ext cx="44805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ข้อแลกเปลี่ยน: ถ้าข้อมูลความสนใจมีหลักล้านเส้น การนับด้วย Cypher ทุกครั้งจะช้ากว่า การ precompute — งานนี้ข้อมูลเล็ก (38 เส้น) จึงตอบได้ทันที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ข้อมูลชุดของเรา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เก็บข้อมูลเองทั้งหมด — ไม่ใช้ dataset สำเร็จรูป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749808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8BDF8"/>
                </a:solidFill>
                <a:latin typeface="Leelawadee UI"/>
              </a:rPr>
              <a:t>12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ผู้ใช้ (User)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31136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2231136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BBF24"/>
                </a:solidFill>
                <a:latin typeface="Leelawadee UI"/>
              </a:rPr>
              <a:t>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231136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รุ่นมือถือ (Phone)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12464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3712464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34D399"/>
                </a:solidFill>
                <a:latin typeface="Leelawadee UI"/>
              </a:rPr>
              <a:t>38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12464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ความสนใจ (LIKES)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193792" y="1234440"/>
            <a:ext cx="137160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5193792" y="1380744"/>
            <a:ext cx="1371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260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93792" y="1892808"/>
            <a:ext cx="13716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ยี่ห้อ (Brand)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66560" y="1234440"/>
            <a:ext cx="4681728" cy="12344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3 ระดับราคา: เรือธง · ระดับกลาง · ระดับเริ่มต้น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ยี่ห้อ: ASUS, Apple, Google, Honor, OPPO, OnePlus, Samsung, Sony, Xiaomi, realme, vivo</a:t>
            </a:r>
          </a:p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050" b="0">
                <a:solidFill>
                  <a:srgbClr val="FBBF24"/>
                </a:solidFill>
                <a:latin typeface="Leelawadee UI"/>
              </a:rPr>
              <a:t>คะแนนดาว (RATED {stars}) 38 เส้น · ดาวเฉลี่ยต่อรุ่นใช้เป็นสัญญาณที่ 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49808" y="2468880"/>
            <a:ext cx="5394960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0120" y="2606040"/>
            <a:ext cx="50292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12 ผู้ใช้ แบ่งตามกลุ่มรสนิยม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301752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สมชาย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17520" y="301752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328269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นรินทร์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017520" y="328269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Android เดิม ๆ (stock)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354787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มะลิ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17520" y="354787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381304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017520" y="381304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Apple + Samsung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60120" y="407822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17520" y="407822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 Samsung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0120" y="434340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พลอย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017520" y="434340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สายถ่ายรูป (กล้องดี)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60120" y="460857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กัญญา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17520" y="460857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สายคุ้มค่า (งบจำกัด)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4873752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เฟิร์น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17520" y="4873752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 + กล้อง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60120" y="5138928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17520" y="5138928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สายเกมมิ่ง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60120" y="5404104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017520" y="5404104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สายสเปกแรง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60120" y="5669280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แบม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17520" y="5669280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สายแบตอึด งบประหยัด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960120" y="5934456"/>
            <a:ext cx="21031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017520" y="5934456"/>
            <a:ext cx="3017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สายดีไซน์ไม่เหมือนใคร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0" y="2468880"/>
            <a:ext cx="5047488" cy="37947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TextBox 47"/>
          <p:cNvSpPr txBox="1"/>
          <p:nvPr/>
        </p:nvSpPr>
        <p:spPr>
          <a:xfrm>
            <a:off x="6629400" y="26060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ทำไมออกแบบข้อมูลแบบนี้</a:t>
            </a:r>
          </a:p>
        </p:txBody>
      </p:sp>
      <p:sp>
        <p:nvSpPr>
          <p:cNvPr id="49" name="Oval 48"/>
          <p:cNvSpPr/>
          <p:nvPr/>
        </p:nvSpPr>
        <p:spPr>
          <a:xfrm>
            <a:off x="6629400" y="310896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6867144" y="301752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แต่ละคนสนใจ 2–4 รุ่น → มีทั้งคนที่รสนิยมซ้ำกันและคนที่ต่างกันสุดขั้ว</a:t>
            </a:r>
          </a:p>
        </p:txBody>
      </p:sp>
      <p:sp>
        <p:nvSpPr>
          <p:cNvPr id="51" name="Oval 50"/>
          <p:cNvSpPr/>
          <p:nvPr/>
        </p:nvSpPr>
        <p:spPr>
          <a:xfrm>
            <a:off x="6629400" y="35112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2" name="TextBox 51"/>
          <p:cNvSpPr txBox="1"/>
          <p:nvPr/>
        </p:nvSpPr>
        <p:spPr>
          <a:xfrm>
            <a:off x="6867144" y="34198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มีกลุ่ม “สายยี่ห้อ” (Apple/Samsung) และ “สายงบ” (รุ่นกลาง) เพื่อทดสอบสัญญาณ Brand/Tier</a:t>
            </a:r>
          </a:p>
        </p:txBody>
      </p:sp>
      <p:sp>
        <p:nvSpPr>
          <p:cNvPr id="53" name="Oval 52"/>
          <p:cNvSpPr/>
          <p:nvPr/>
        </p:nvSpPr>
        <p:spPr>
          <a:xfrm>
            <a:off x="6629400" y="413308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4" name="TextBox 53"/>
          <p:cNvSpPr txBox="1"/>
          <p:nvPr/>
        </p:nvSpPr>
        <p:spPr>
          <a:xfrm>
            <a:off x="6867144" y="404164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ทุกรุ่นมีคนสนใจอย่างน้อย 1 คน → ไม่มีโหนดร้างในกราฟ</a:t>
            </a:r>
          </a:p>
        </p:txBody>
      </p:sp>
      <p:sp>
        <p:nvSpPr>
          <p:cNvPr id="55" name="Oval 54"/>
          <p:cNvSpPr/>
          <p:nvPr/>
        </p:nvSpPr>
        <p:spPr>
          <a:xfrm>
            <a:off x="6629400" y="453542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6" name="TextBox 55"/>
          <p:cNvSpPr txBox="1"/>
          <p:nvPr/>
        </p:nvSpPr>
        <p:spPr>
          <a:xfrm>
            <a:off x="6867144" y="444398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ภาพสินค้าดึงจาก Wikimedia Commons แล้วเก็บไว้ในโปรเจกต์ (แสดงได้แม้ไม่มีเน็ต)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ภาพในระบบแนะนำ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ทุกรุ่นในการ์ดมีภาพสินค้าจริง (ตามโจทย์ข้อ 1)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6</a:t>
            </a:r>
          </a:p>
        </p:txBody>
      </p:sp>
      <p:pic>
        <p:nvPicPr>
          <p:cNvPr id="8" name="Picture 7" descr="phone_she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5055" y="1188720"/>
            <a:ext cx="6156144" cy="502920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366760" y="1188720"/>
            <a:ext cx="308152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577072" y="1325880"/>
            <a:ext cx="2651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F8833"/>
                </a:solidFill>
                <a:latin typeface="Leelawadee UI"/>
              </a:rPr>
              <a:t>ภาพถูกใช้ 2 ที่</a:t>
            </a:r>
          </a:p>
        </p:txBody>
      </p:sp>
      <p:sp>
        <p:nvSpPr>
          <p:cNvPr id="11" name="Oval 10"/>
          <p:cNvSpPr/>
          <p:nvPr/>
        </p:nvSpPr>
        <p:spPr>
          <a:xfrm>
            <a:off x="8577072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8814816" y="1783080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ในแอป: การ์ดผลการแนะนำ + คลังรุ่นทั้งหมด</a:t>
            </a:r>
          </a:p>
        </p:txBody>
      </p:sp>
      <p:sp>
        <p:nvSpPr>
          <p:cNvPr id="13" name="Oval 12"/>
          <p:cNvSpPr/>
          <p:nvPr/>
        </p:nvSpPr>
        <p:spPr>
          <a:xfrm>
            <a:off x="8577072" y="22951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14816" y="2203704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ในโน๊ตบุ๊ก: เซลล์แสดงผลลัพธ์พร้อมภาพทุกครั้ง</a:t>
            </a:r>
          </a:p>
        </p:txBody>
      </p:sp>
      <p:sp>
        <p:nvSpPr>
          <p:cNvPr id="15" name="Oval 14"/>
          <p:cNvSpPr/>
          <p:nvPr/>
        </p:nvSpPr>
        <p:spPr>
          <a:xfrm>
            <a:off x="8577072" y="271576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8814816" y="2624328"/>
            <a:ext cx="241401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ในสไลด์: หน้าสาธิตผลการแนะนำ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577072" y="3182112"/>
            <a:ext cx="2651760" cy="2011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ที่มา: Wikimedia Commons (สัญญาอนุญาตเสรี) เก็บชื่อไฟล์ต้นทางใน data/phones.json เพื่อให้เครดิตได้ครบ — ตรวจทีละภาพว่าไม่ผิดรุ่น ไม่ใช่โลโก้ และไม่ใช่ภาพเปล่า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สถาปัตยกรรม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โครงสร้างกราฟและจำนวนข้อมูลจริงใน Neo4j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196596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1298448"/>
            <a:ext cx="5120640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Schema ที่โหลดเข้า Neo4j จริง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1572768"/>
            <a:ext cx="5120640" cy="144475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(User {user, age, group})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[:LIKES]  38 เส้น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▼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(Phone {phone_id, model, brand, tier, image})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[:BY_BRAND] → (Brand {name})   11 โหนด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      │ [:IN_TIER]  → (Tier {name})     3 โหนด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1188720"/>
            <a:ext cx="4956048" cy="19659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67208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ทำไมแยก Brand/Tier เป็นโหนด?</a:t>
            </a:r>
          </a:p>
        </p:txBody>
      </p:sp>
      <p:sp>
        <p:nvSpPr>
          <p:cNvPr id="13" name="Oval 12"/>
          <p:cNvSpPr/>
          <p:nvPr/>
        </p:nvSpPr>
        <p:spPr>
          <a:xfrm>
            <a:off x="672084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958583" y="173736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Brand/Tier ใช้เป็นสัญญาณที่สอง (content-based) ไม่ต้องพึ่งเพื่อน</a:t>
            </a:r>
          </a:p>
        </p:txBody>
      </p:sp>
      <p:sp>
        <p:nvSpPr>
          <p:cNvPr id="15" name="Oval 14"/>
          <p:cNvSpPr/>
          <p:nvPr/>
        </p:nvSpPr>
        <p:spPr>
          <a:xfrm>
            <a:off x="672084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6958583" y="2121408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ช่วยแก้ cold start ของผู้ใช้ใหม่</a:t>
            </a:r>
          </a:p>
        </p:txBody>
      </p:sp>
      <p:sp>
        <p:nvSpPr>
          <p:cNvPr id="17" name="Oval 16"/>
          <p:cNvSpPr/>
          <p:nvPr/>
        </p:nvSpPr>
        <p:spPr>
          <a:xfrm>
            <a:off x="672084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6958583" y="2505456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คำนวณ “ยี่ห้อเดียวกันกี่รุ่น” ได้ด้วยการเดินกราฟ ไม่ต้องเขียนโค้ดนับเอง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8" y="329184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คำถามหลัก 3 hop ที่ระบบใช้จริง (ผลจากข้อมูลชุดนี้)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703320"/>
            <a:ext cx="5303520" cy="256032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32688" y="3813048"/>
            <a:ext cx="49377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Hop 1-2-3 → รุ่นที่เพื่อนรสนิยมใกล้สนใจ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2688" y="4087368"/>
            <a:ext cx="4937759" cy="203911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(me:User {user: 'สมชาย'})-[:LIKES]-&gt;(shared)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(shared)&lt;-[:LIKES]-(other:User)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(other)-[:LIKES]-&gt;(rec:Phone)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WHERE NOT (me)-[:LIKES]-&gt;(rec)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RETURN rec.model, count(DISTINCT other) AS votes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ORDER BY votes DESC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703320"/>
            <a:ext cx="5184648" cy="25603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6446520" y="3840480"/>
            <a:ext cx="48463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ผลจริงจากกราฟ (เรียงตามจำนวนคน)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46520" y="4206240"/>
            <a:ext cx="4846320" cy="1920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มินต์,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ปวีณา, อนุชา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ชัย, ธนกร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realme 16 Pro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2 คน: ธนกร, เฟิร์น</a:t>
            </a:r>
          </a:p>
          <a:p>
            <a:pPr algn="l">
              <a:lnSpc>
                <a:spcPct val="106000"/>
              </a:lnSpc>
              <a:spcAft>
                <a:spcPts val="6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Samsung Galaxy A55</a:t>
            </a:r>
            <a:r>
              <a:rPr sz="1100" b="0">
                <a:solidFill>
                  <a:srgbClr val="9FB0CB"/>
                </a:solidFill>
                <a:latin typeface="Leelawadee UI"/>
              </a:rPr>
              <a:t>  1 คน: อนุชา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ระบบให้คะแนน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5 วิธี (เลือกเทียบกันได้ในแอป)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88720"/>
            <a:ext cx="68580" cy="233172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50976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8BDF8"/>
                </a:solidFill>
                <a:latin typeface="Leelawadee UI"/>
              </a:rPr>
              <a:t>1) นับโหวตเพื่อน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50976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จำนวนคนที่สนใจรุ่นนั้น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count(DISTINCT other) → 1 คน = 1 เสียง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ข้อดี: เข้าใจง่าย | ข้อเสีย: ทุกคนน้ำหนักเท่ากัน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1887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6263640" y="1188720"/>
            <a:ext cx="68580" cy="233172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464808" y="13350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34D399"/>
                </a:solidFill>
                <a:latin typeface="Leelawadee UI"/>
              </a:rPr>
              <a:t>2) ถ่วงน้ำหนัก (Jaccard)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64808" y="17556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คะแนน = Σ Jaccard(เรา, คนนั้น)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Jaccard = |สนใจร่วม| ÷ |รุ่นของสองคนรวมกัน|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คนรสนิยมใกล้เราสุดมีเสียงมากสุด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3703320"/>
            <a:ext cx="68580" cy="233172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50976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BBF24"/>
                </a:solidFill>
                <a:latin typeface="Leelawadee UI"/>
              </a:rPr>
              <a:t>3) ตามยี่ห้อ/ระดับราคา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50976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นับรุ่นที่เราเคยสนใจซึ่งใช้ยี่ห้อเดียวกัน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อยู่ระดับราคาเดียวกัน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ใช้ได้กับผู้ใช้ใหม่ (cold start)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3317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6263640" y="3703320"/>
            <a:ext cx="68580" cy="233172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6464808" y="3849624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FF8833"/>
                </a:solidFill>
                <a:latin typeface="Leelawadee UI"/>
              </a:rPr>
              <a:t>4) ผสมสองสัญญาณ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8" y="4270248"/>
            <a:ext cx="4937760" cy="1645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0.6 × (คะแนนเพื่อน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+ 0.4 × (คะแนนยี่ห้อ/ราคา normalize)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กันปัญหา “แนะนำของนอกงบ” เช่นงบกลางแต่ได้เรือธง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961888"/>
            <a:ext cx="10698480" cy="676656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6035040"/>
            <a:ext cx="102412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5) ถ่วงด้วยคะแนนดาว — </a:t>
            </a:r>
            <a:r>
              <a:rPr sz="1100" b="0">
                <a:solidFill>
                  <a:srgbClr val="E9EFFA"/>
                </a:solidFill>
                <a:latin typeface="Leelawadee UI"/>
              </a:rPr>
              <a:t>คะแนน = Σ ( Jaccard(เรา, เพื่อน) × ดาวที่เพื่อนให้รุ่นนั้น ÷ 5 ) ใช้ความสัมพันธ์ RATED {stars} → คนที่ให้ 5 ดาวมีน้ำหนักมากกว่าคนที่ให้ 2 ดาว (ทุกวิธีถูกตรวจเทียบกันแล้ว — ดูหน้าผลการทดสอบ)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เว็บแอป Streamlit ต่อ Neo4j — เมนู 6 หน้า + หน้ารวมงาน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52144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152144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14400" y="1188720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144475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ภาพรวมระบบ 6 ตัวชี้วัด + กราฟ + โปรไฟล์ผู้ใช้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1810512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749808" y="1810512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4400" y="1847088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2103120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การ์ดคำแนะนำมีภาพสินค้า + คะแนน + เหตุผล (5 วิธี)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2468880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ctangle 16"/>
          <p:cNvSpPr/>
          <p:nvPr/>
        </p:nvSpPr>
        <p:spPr>
          <a:xfrm>
            <a:off x="749808" y="2468880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4400" y="2505456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Phone Search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2761488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ค้นหา/กรอง 23 รุ่น พร้อมภาพสินค้าจริง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3127248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ectangle 20"/>
          <p:cNvSpPr/>
          <p:nvPr/>
        </p:nvSpPr>
        <p:spPr>
          <a:xfrm>
            <a:off x="749808" y="3127248"/>
            <a:ext cx="50292" cy="603504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14400" y="3163824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Like &amp; Rate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" y="3419856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เพิ่ม/ลบความสนใจ + ให้ดาว แล้วเห็นผลก่อน–หลัง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3785615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ectangle 24"/>
          <p:cNvSpPr/>
          <p:nvPr/>
        </p:nvSpPr>
        <p:spPr>
          <a:xfrm>
            <a:off x="749808" y="3785615"/>
            <a:ext cx="50292" cy="603504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914400" y="3822191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Graph Explorer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" y="4078224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กราฟความสัมพันธ์ + ตาราง edge + รัน Cypher เอง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49808" y="4443983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49808" y="4443983"/>
            <a:ext cx="50292" cy="603504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914400" y="4480559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Admin &amp; Setup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4400" y="4736592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schema + รีโหลดข้อมูล idempotent + ดาวน์โหลด CSV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49808" y="5102351"/>
            <a:ext cx="5120640" cy="603504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749808" y="5102351"/>
            <a:ext cx="50292" cy="603504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TextBox 33"/>
          <p:cNvSpPr txBox="1"/>
          <p:nvPr/>
        </p:nvSpPr>
        <p:spPr>
          <a:xfrm>
            <a:off x="914400" y="5138927"/>
            <a:ext cx="22860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Index &amp; Links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14400" y="5394959"/>
            <a:ext cx="480060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หัวข้อรวมงานทุกชิ้นบน GitHub + ลิงก์หน้า index</a:t>
            </a:r>
          </a:p>
        </p:txBody>
      </p:sp>
      <p:pic>
        <p:nvPicPr>
          <p:cNvPr id="36" name="Picture 35" descr="app_re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764252"/>
            <a:ext cx="5367528" cy="383241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ผลจริง: คำแนะนำสำหรับ สมชาย (พร้อมภาพสินค้า)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1556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รุ่นที่ สมชาย สนใจอยู่แล้ว 4 รุ่น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0" name="Picture 9" descr="galaxy-s24-ultra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7542" y="1618488"/>
            <a:ext cx="891540" cy="11887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77824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7824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048255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Picture 13" descr="honor-magic6-p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2134" y="1618488"/>
            <a:ext cx="559251" cy="11887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2176272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Honor Magic6 Pro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176272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46703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8" name="Picture 17" descr="xiaomi-14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03693" y="1618488"/>
            <a:ext cx="893028" cy="118872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3474720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Xiaomi 14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474720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645152" y="1508760"/>
            <a:ext cx="1207008" cy="24231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2" name="Picture 21" descr="xperia-1-v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54880" y="1719072"/>
            <a:ext cx="987552" cy="987552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4773168" y="2862072"/>
            <a:ext cx="950976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Sony Xperia 1 V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73168" y="3154680"/>
            <a:ext cx="950976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เรือธง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080760" y="1115568"/>
            <a:ext cx="53949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ระบบแนะนำ (ถ่วงน้ำหนัก + ผสม)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0807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Picture 26" descr="galaxy-s23.jp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0488" y="1746321"/>
            <a:ext cx="1481328" cy="1115933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62087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087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0.944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087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ปวีณา, อนุชา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9095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3" name="Picture 32" descr="rog-phone-6.jp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74189" y="1618488"/>
            <a:ext cx="771525" cy="1371600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80375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ASUS ROG Phone 6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375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0.864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0375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ชัย, ธนกร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0375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 + ยี่ห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9738360" y="1508760"/>
            <a:ext cx="1700784" cy="30632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9" name="Picture 38" descr="c35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74402" y="1618488"/>
            <a:ext cx="1028700" cy="1371600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866376" y="3044952"/>
            <a:ext cx="1444752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realme C35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866376" y="3337560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FBBF24"/>
                </a:solidFill>
                <a:latin typeface="Leelawadee UI"/>
              </a:rPr>
              <a:t>คะแนน 0.6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866376" y="3557015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เพื่อน: มินต์, เฟิร์น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66376" y="3776472"/>
            <a:ext cx="1444752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6000"/>
              </a:lnSpc>
              <a:spcAft>
                <a:spcPts val="400"/>
              </a:spcAft>
            </a:pPr>
            <a:r>
              <a:rPr sz="950" b="0">
                <a:solidFill>
                  <a:srgbClr val="9FB0CB"/>
                </a:solidFill>
                <a:latin typeface="Leelawadee UI"/>
              </a:rPr>
              <a:t>เพื่อนที่รสนิยมใกล้สนใจ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49808" y="4114800"/>
            <a:ext cx="10698480" cy="2148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960120" y="4224528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ทำไมได้รุ่นนี้ — อธิบายย้อนหลังได้ทุกคำแนะนำ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0120" y="4590288"/>
            <a:ext cx="10241280" cy="1554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Samsung Galaxy S23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0.944  |  เพื่อน ปวีณา, อนุชา  |  เพราะสนใจ Galaxy S24 Ultra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ASUS ROG Phone 6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0.864  |  เพื่อน ชัย, ธนกร  |  เพราะสนใจ Xiaomi 14</a:t>
            </a:r>
          </a:p>
          <a:p>
            <a:pPr algn="l">
              <a:lnSpc>
                <a:spcPct val="106000"/>
              </a:lnSpc>
              <a:spcAft>
                <a:spcPts val="700"/>
              </a:spcAft>
            </a:pPr>
            <a:r>
              <a:rPr sz="1150" b="1">
                <a:solidFill>
                  <a:srgbClr val="E9EFFA"/>
                </a:solidFill>
                <a:latin typeface="Leelawadee UI"/>
              </a:rPr>
              <a:t>realme C35</a:t>
            </a:r>
            <a:r>
              <a:rPr sz="1050" b="0">
                <a:solidFill>
                  <a:srgbClr val="9FB0CB"/>
                </a:solidFill>
                <a:latin typeface="Leelawadee UI"/>
              </a:rPr>
              <a:t>   คะแนน 0.6  |  เพื่อน มินต์, เฟิร์น  |  เพราะสนใจ Xperia 1 V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0120" y="5806440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คะแนนผสม = 0.6 × เพื่อน (Jaccard) + 0.4 × ยี่ห้อ/ระดับราคา — ตัวเลขจริงจากข้อมูลชุดนี้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ใครรสนิยมใกล้ สมชาย (ตารางจริงจาก Cypher)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11430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Jaccard = |รุ่นที่สนใจร่วมกัน| ÷ |รุ่นของสองคนรวมกัน| — ยิ่งใกล้ 1 ยิ่งเหมือนกัน และยิ่งมีน้ำหนักโหวตมาก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49808" y="1691640"/>
            <a:ext cx="10698480" cy="329184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810512"/>
            <a:ext cx="102412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8BDF8"/>
                </a:solidFill>
                <a:latin typeface="Leelawadee UI"/>
              </a:rPr>
              <a:t>ผู้ใช้ · รุ่นที่สนใจร่วม · ค่า Jaccard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212848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มินต์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212848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Sony Xperia 1 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0" y="2212848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0.2   (1 รุ่น)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2542032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ชัย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2542032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542032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2871215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ธนกร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2871215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Xiaomi 14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0" y="2871215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05840" y="3200399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ปวีณา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3200399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0" y="3200399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3529583"/>
            <a:ext cx="18288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00" b="1">
                <a:solidFill>
                  <a:srgbClr val="E9EFFA"/>
                </a:solidFill>
                <a:latin typeface="Leelawadee UI"/>
              </a:rPr>
              <a:t>อนุชา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34640" y="3529583"/>
            <a:ext cx="5120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9FB0CB"/>
                </a:solidFill>
                <a:latin typeface="Leelawadee UI"/>
              </a:rPr>
              <a:t>Samsung Galaxy S24 Ultra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3529583"/>
            <a:ext cx="292608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FBBF24"/>
                </a:solidFill>
                <a:latin typeface="Leelawadee UI"/>
              </a:rPr>
              <a:t>Jaccard 0.167   (1 รุ่น)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114800"/>
            <a:ext cx="10241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ข้อสังเกต: มี 7 คนที่มีรุ่นสนใจร่วมกับ สมชาย — น้ำหนักโหวตของแต่ละคนไม่เท่ากันตามค่านี้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49808" y="5120640"/>
            <a:ext cx="10698480" cy="118872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TextBox 27"/>
          <p:cNvSpPr txBox="1"/>
          <p:nvPr/>
        </p:nvSpPr>
        <p:spPr>
          <a:xfrm>
            <a:off x="960120" y="5257800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3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ทำไมต้อง K จุดนี้: ถ้าใช้แค่ “นับโหวต” คนที่สนใจตรงกันเพียงรุ่นเดียวจะมีเสียงเท่ากับ คนที่รสนิยมเหมือนเราเกือบทั้งหมด — การถ่วงด้วย Jaccard แก้ปัญหานี้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เห็นภาพความสัมพันธ์: กราฟผู้ใช้ ↔ รุ่นมือถือ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12</a:t>
            </a:r>
          </a:p>
        </p:txBody>
      </p:sp>
      <p:pic>
        <p:nvPicPr>
          <p:cNvPr id="8" name="Picture 7" descr="graph_somcha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9808" y="1705505"/>
            <a:ext cx="7772400" cy="3949908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732520" y="1143000"/>
            <a:ext cx="2715768" cy="507492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915400" y="1280160"/>
            <a:ext cx="23774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50" b="1">
                <a:solidFill>
                  <a:srgbClr val="FF8833"/>
                </a:solidFill>
                <a:latin typeface="Leelawadee UI"/>
              </a:rPr>
              <a:t>อ่านกราฟ</a:t>
            </a:r>
          </a:p>
        </p:txBody>
      </p:sp>
      <p:sp>
        <p:nvSpPr>
          <p:cNvPr id="11" name="Oval 10"/>
          <p:cNvSpPr/>
          <p:nvPr/>
        </p:nvSpPr>
        <p:spPr>
          <a:xfrm>
            <a:off x="8915400" y="1828800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TextBox 11"/>
          <p:cNvSpPr txBox="1"/>
          <p:nvPr/>
        </p:nvSpPr>
        <p:spPr>
          <a:xfrm>
            <a:off x="9153144" y="1737360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จุดส้ม = ผู้ใช้ที่เลือก</a:t>
            </a:r>
          </a:p>
        </p:txBody>
      </p:sp>
      <p:sp>
        <p:nvSpPr>
          <p:cNvPr id="13" name="Oval 12"/>
          <p:cNvSpPr/>
          <p:nvPr/>
        </p:nvSpPr>
        <p:spPr>
          <a:xfrm>
            <a:off x="8915400" y="2212848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153144" y="2121408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จุดฟ้า = คนรสนิยมใกล้</a:t>
            </a:r>
          </a:p>
        </p:txBody>
      </p:sp>
      <p:sp>
        <p:nvSpPr>
          <p:cNvPr id="15" name="Oval 14"/>
          <p:cNvSpPr/>
          <p:nvPr/>
        </p:nvSpPr>
        <p:spPr>
          <a:xfrm>
            <a:off x="8915400" y="259689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153144" y="2505456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จุดเหลือง = รุ่นที่สนใจแล้ว</a:t>
            </a:r>
          </a:p>
        </p:txBody>
      </p:sp>
      <p:sp>
        <p:nvSpPr>
          <p:cNvPr id="17" name="Oval 16"/>
          <p:cNvSpPr/>
          <p:nvPr/>
        </p:nvSpPr>
        <p:spPr>
          <a:xfrm>
            <a:off x="8915400" y="2980944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9153144" y="2889503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จุดเขียว = รุ่นที่ระบบแนะนำ</a:t>
            </a:r>
          </a:p>
        </p:txBody>
      </p:sp>
      <p:sp>
        <p:nvSpPr>
          <p:cNvPr id="19" name="Oval 18"/>
          <p:cNvSpPr/>
          <p:nvPr/>
        </p:nvSpPr>
        <p:spPr>
          <a:xfrm>
            <a:off x="8915400" y="33649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153144" y="3273551"/>
            <a:ext cx="213969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050" b="0">
                <a:solidFill>
                  <a:srgbClr val="E9EFFA"/>
                </a:solidFill>
                <a:latin typeface="Leelawadee UI"/>
              </a:rPr>
              <a:t>เส้นประเขียว = ทางเดิน 3 hop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15400" y="3794759"/>
            <a:ext cx="23774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กราฟสร้างในตัวแอป (ไม่ใช่ภาพนิ่ง) — เปลี่ยนผู้ใช้/วิธีให้คะแนนแล้ววาดใหม่ทันที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สาธิตการใช้งาน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Like &amp; Rate: แก้ข้อมูลแล้วคำแนะนำเปลี่ยนทันที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486400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298448"/>
            <a:ext cx="5120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FF8833"/>
                </a:solidFill>
                <a:latin typeface="Leelawadee UI"/>
              </a:rPr>
              <a:t>กดเพิ่มความสนใจ 1 รุ่น แล้วดูผลก่อน–หลัง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1737360"/>
            <a:ext cx="5074920" cy="2926080"/>
          </a:xfrm>
          <a:prstGeom prst="roundRect">
            <a:avLst>
              <a:gd name="adj" fmla="val 4000"/>
            </a:avLst>
          </a:prstGeom>
          <a:solidFill>
            <a:srgbClr val="0B1220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43000" y="1847088"/>
            <a:ext cx="4709159" cy="219456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1">
                <a:solidFill>
                  <a:srgbClr val="38BDF8"/>
                </a:solidFill>
                <a:latin typeface="Leelawadee UI"/>
              </a:rPr>
              <a:t>สิ่งที่แอปทำตอนกดปุ่ม “เพิ่มความสนใจ”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121408"/>
            <a:ext cx="4709159" cy="240487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เพิ่มความสนใจใหม่ลงกราฟ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MATCH (u:User {user: 'สมชาย'}), (p:Phone {phone_id: 'P01'})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(u)-[:LIKES]-&gt;(p)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ให้คะแนนดาวกับรุ่นนั้นด้วย (สัญญาณที่ 5)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MERGE (u)-[r:RATED]-&gt;(p) SET r.stars = 4.5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/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แล้วถามคำแนะนำเดิมซ้ำทันที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ไม่ต้องเทรนโมเดลใหม่ ไม่ต้องรอ batch</a:t>
            </a:r>
          </a:p>
          <a:p>
            <a:pPr algn="l">
              <a:lnSpc>
                <a:spcPct val="100000"/>
              </a:lnSpc>
              <a:spcAft>
                <a:spcPts val="100"/>
              </a:spcAft>
            </a:pPr>
            <a:r>
              <a:rPr sz="1150" b="0">
                <a:solidFill>
                  <a:srgbClr val="C9E4FF"/>
                </a:solidFill>
                <a:latin typeface="Leelawadee UI"/>
              </a:rPr>
              <a:t>// เพราะคำแนะนำคำนวณสดจากการเดินกราฟ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0" y="1188720"/>
            <a:ext cx="5047488" cy="36576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6629400" y="1298448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250" b="1">
                <a:solidFill>
                  <a:srgbClr val="34D399"/>
                </a:solidFill>
                <a:latin typeface="Leelawadee UI"/>
              </a:rPr>
              <a:t>Cold start: ผู้ใช้ใหม่ที่ยังไม่มีเพื่อนรสนิยม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29400" y="1737360"/>
            <a:ext cx="457200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เพิ่มผู้ใช้ใหม่ที่สนใจ Samsung Galaxy S25 (รุ่นที่ยังไม่มีใครสนใจ) → สัญญาณ “เพื่อน” ว่างเปล่า แต่ระบบยังแนะนำได้จากโหนด Brand (Samsung) และ Tier (เรือธง)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29400" y="2743200"/>
            <a:ext cx="45720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38BDF8"/>
                </a:solidFill>
                <a:latin typeface="Leelawadee UI"/>
              </a:rPr>
              <a:t>ตัวอย่างผลจากสัญญาณยี่ห้อ/ราคา (ผู้ใช้จริง สมชาย)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0" y="306324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Samsung Galaxy S23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778240" y="306324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1 · ราคาตรง 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337560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X6 Pro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778240" y="3337560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611879"/>
            <a:ext cx="44805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1">
                <a:solidFill>
                  <a:srgbClr val="E9EFFA"/>
                </a:solidFill>
                <a:latin typeface="Leelawadee UI"/>
              </a:rPr>
              <a:t>OPPO Find X7 Ultra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778240" y="3611879"/>
            <a:ext cx="23774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00" b="0">
                <a:solidFill>
                  <a:srgbClr val="9FB0CB"/>
                </a:solidFill>
                <a:latin typeface="Leelawadee UI"/>
              </a:rPr>
              <a:t>ยี่ห้อตรง 0 · ราคาตรง 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5029200"/>
            <a:ext cx="10698480" cy="128016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TextBox 23"/>
          <p:cNvSpPr txBox="1"/>
          <p:nvPr/>
        </p:nvSpPr>
        <p:spPr>
          <a:xfrm>
            <a:off x="960120" y="5138928"/>
            <a:ext cx="10241280" cy="10058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0">
                <a:solidFill>
                  <a:srgbClr val="E9EFFA"/>
                </a:solidFill>
                <a:latin typeface="Leelawadee UI"/>
              </a:rPr>
              <a:t>สะพานเชื่อมกับของเดิม: ระบบนี้ใช้ซ้ำไอเดีย “เพื่อนของเพื่อน” ที่ฝึกในคลาส แต่ย้ายมาคิดบน กราฟทั้งหมด → เขียนสั้นกว่า อ่านง่ายกว่า และเพิ่มสัญญาณยี่ห้อ/ราคาเข้ามาแก้จุดอ่อน เรื่องผู้ใช้ใหม่ได้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การทดสอบ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ตรวจสอบด้วยข้อมูลจริง ไม่ใช่แค่ “รันผ่าน”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49808" y="1234440"/>
            <a:ext cx="68580" cy="1051560"/>
          </a:xfrm>
          <a:prstGeom prst="rect">
            <a:avLst/>
          </a:prstGeom>
          <a:solidFill>
            <a:srgbClr val="34D3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960120" y="1380744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4D399"/>
                </a:solidFill>
                <a:latin typeface="Leelawadee UI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353312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สอง backend ให้ผลตรงกัน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1719072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เทียบ Cypher (Neo4j) กับ backend สำรองในหน่วยความจำ ของผู้ใช้ทั้ง 12 คน × 6 การตรวจ (รวมวิธีถ่วงด้วยคะแนนดาว) — ผลตรงกันครบทุกคน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49808" y="2441448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49808" y="2441448"/>
            <a:ext cx="68580" cy="1051560"/>
          </a:xfrm>
          <a:prstGeom prst="rect">
            <a:avLst/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960120" y="2587752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38BDF8"/>
                </a:solidFill>
                <a:latin typeface="Leelawadee U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54480" y="2560320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โน๊ตบุ๊กรันได้จริงทุกเซลล์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2926080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สร้างโน๊ตบุ๊กใหม่จากข้อมูลชุดเดียวกัน รันทุกเซลล์บน Neo4j ในเครื่อง มี output จริงฝังในไฟล์ และมี assertion ท้ายไฟล์ยืนยันข้อมูลกลับสู่สภาพเดิม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49808" y="3648456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49808" y="3648456"/>
            <a:ext cx="68580" cy="1051560"/>
          </a:xfrm>
          <a:prstGeom prst="rect">
            <a:avLst/>
          </a:prstGeom>
          <a:solidFill>
            <a:srgbClr val="FBBF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60120" y="3794760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BBF24"/>
                </a:solidFill>
                <a:latin typeface="Leelawadee U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3767328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โหมดไม่มี Neo4j ต้องไม่พัง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54480" y="4133088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ปิดการเชื่อมต่อฐานข้อมูลแล้วเปิดแอปใหม่ — สลับไปใช้ backend สำรองอัตโนมัติ และภาพสินค้าแสดงครบ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8" y="4855464"/>
            <a:ext cx="10698480" cy="105156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49808" y="4855464"/>
            <a:ext cx="68580" cy="1051560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0017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0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54480" y="4974336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50" b="1">
                <a:solidFill>
                  <a:srgbClr val="E9EFFA"/>
                </a:solidFill>
                <a:latin typeface="Leelawadee UI"/>
              </a:rPr>
              <a:t>ภาพต้องถูกต้อง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54480" y="5340096"/>
            <a:ext cx="96926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00" b="0">
                <a:solidFill>
                  <a:srgbClr val="9FB0CB"/>
                </a:solidFill>
                <a:latin typeface="Leelawadee UI"/>
              </a:rPr>
              <a:t>ตรวจด้วยตา 2 รอบ: รอบแรกพบภาพ iPhone 3 รุ่นมืดเกินไป → หาภาพใหม่จาก Commons แล้วตรวจซ้ำ 23/23 ภาพเป็นตัวเครื่องจริง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ข้อจำกัด &amp; ต่อยอด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งานนี้ทำอะไรได้ และยังขาดอะไร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188720"/>
            <a:ext cx="5349240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0120" y="1325880"/>
            <a:ext cx="49377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F87171"/>
                </a:solidFill>
                <a:latin typeface="Leelawadee UI"/>
              </a:rPr>
              <a:t>ข้อจำกัดที่ควรพูดตอนนำเสนอ</a:t>
            </a:r>
          </a:p>
        </p:txBody>
      </p:sp>
      <p:sp>
        <p:nvSpPr>
          <p:cNvPr id="10" name="Oval 9"/>
          <p:cNvSpPr/>
          <p:nvPr/>
        </p:nvSpPr>
        <p:spPr>
          <a:xfrm>
            <a:off x="96012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1197864" y="1783080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ข้อมูลความสนใจมี 38 เส้น — น้อย (sparsity) ถ้าเก็บจากผู้ใช้จริงจะแม่นขึ้น</a:t>
            </a:r>
          </a:p>
        </p:txBody>
      </p:sp>
      <p:sp>
        <p:nvSpPr>
          <p:cNvPr id="12" name="Oval 11"/>
          <p:cNvSpPr/>
          <p:nvPr/>
        </p:nvSpPr>
        <p:spPr>
          <a:xfrm>
            <a:off x="96012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1197864" y="2185415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ยังไม่ใช้สเปกเครื่อง (RAM/กล้อง/แบตเตอรี่) เป็นสัญญาณ จึงตอบ “รุ่นไหนกล้องดีสุด” ไม่ได้</a:t>
            </a:r>
          </a:p>
        </p:txBody>
      </p:sp>
      <p:sp>
        <p:nvSpPr>
          <p:cNvPr id="14" name="Oval 13"/>
          <p:cNvSpPr/>
          <p:nvPr/>
        </p:nvSpPr>
        <p:spPr>
          <a:xfrm>
            <a:off x="96012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1197864" y="2587751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ระดับราคาแบ่งหยาบ 3 ระดับ ถ้าใช้ช่วงงบเป็นตัวเลขจริงจะแนะนำตรงใจกว่า</a:t>
            </a:r>
          </a:p>
        </p:txBody>
      </p:sp>
      <p:sp>
        <p:nvSpPr>
          <p:cNvPr id="16" name="Oval 15"/>
          <p:cNvSpPr/>
          <p:nvPr/>
        </p:nvSpPr>
        <p:spPr>
          <a:xfrm>
            <a:off x="96012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1197864" y="2990087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ผู้ใช้/ความสนใจเป็นข้อมูลสมมติจากการจัดชุดเพื่อการเรียนการสอน</a:t>
            </a:r>
          </a:p>
        </p:txBody>
      </p:sp>
      <p:sp>
        <p:nvSpPr>
          <p:cNvPr id="18" name="Oval 17"/>
          <p:cNvSpPr/>
          <p:nvPr/>
        </p:nvSpPr>
        <p:spPr>
          <a:xfrm>
            <a:off x="96012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1197864" y="3392423"/>
            <a:ext cx="470001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คะแนนไม่ได้บอกความมั่นใจ (confidence) ของคำแนะนำ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0" y="1188720"/>
            <a:ext cx="5047488" cy="5029200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62940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400" b="1">
                <a:solidFill>
                  <a:srgbClr val="34D399"/>
                </a:solidFill>
                <a:latin typeface="Leelawadee UI"/>
              </a:rPr>
              <a:t>ต่อยอดได้</a:t>
            </a:r>
          </a:p>
        </p:txBody>
      </p:sp>
      <p:sp>
        <p:nvSpPr>
          <p:cNvPr id="22" name="Oval 21"/>
          <p:cNvSpPr/>
          <p:nvPr/>
        </p:nvSpPr>
        <p:spPr>
          <a:xfrm>
            <a:off x="6629400" y="1874519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867144" y="1783080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เก็บข้อมูลจริงด้วยแบบสอบถามในห้องเรียน แล้วโหลดเข้าฐานข้อมูลเดิมได้ทันที</a:t>
            </a:r>
          </a:p>
        </p:txBody>
      </p:sp>
      <p:sp>
        <p:nvSpPr>
          <p:cNvPr id="24" name="Oval 23"/>
          <p:cNvSpPr/>
          <p:nvPr/>
        </p:nvSpPr>
        <p:spPr>
          <a:xfrm>
            <a:off x="6629400" y="2276856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6867144" y="2185415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เพิ่มโหนดสเปก (Camera, Battery, Chipset) แล้วเป็นระบบแนะนำแบบหลายเกณฑ์</a:t>
            </a:r>
          </a:p>
        </p:txBody>
      </p:sp>
      <p:sp>
        <p:nvSpPr>
          <p:cNvPr id="26" name="Oval 25"/>
          <p:cNvSpPr/>
          <p:nvPr/>
        </p:nvSpPr>
        <p:spPr>
          <a:xfrm>
            <a:off x="6629400" y="2679191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TextBox 26"/>
          <p:cNvSpPr txBox="1"/>
          <p:nvPr/>
        </p:nvSpPr>
        <p:spPr>
          <a:xfrm>
            <a:off x="6867144" y="2587751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เพิ่มน้ำหนักตามความสำคัญที่ผู้ใช้ให้ (เช่น เน้นกล้องมากกว่าราคา)</a:t>
            </a:r>
          </a:p>
        </p:txBody>
      </p:sp>
      <p:sp>
        <p:nvSpPr>
          <p:cNvPr id="28" name="Oval 27"/>
          <p:cNvSpPr/>
          <p:nvPr/>
        </p:nvSpPr>
        <p:spPr>
          <a:xfrm>
            <a:off x="6629400" y="3081527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TextBox 28"/>
          <p:cNvSpPr txBox="1"/>
          <p:nvPr/>
        </p:nvSpPr>
        <p:spPr>
          <a:xfrm>
            <a:off x="6867144" y="2990087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เก็บประวัติการกดดู/เทียบรุ่น แล้วเปลี่ยนจาก “ความสนใจ” เป็นพฤติกรรมจริง</a:t>
            </a:r>
          </a:p>
        </p:txBody>
      </p:sp>
      <p:sp>
        <p:nvSpPr>
          <p:cNvPr id="30" name="Oval 29"/>
          <p:cNvSpPr/>
          <p:nvPr/>
        </p:nvSpPr>
        <p:spPr>
          <a:xfrm>
            <a:off x="6629400" y="3483863"/>
            <a:ext cx="77724" cy="77724"/>
          </a:xfrm>
          <a:prstGeom prst="ellipse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TextBox 30"/>
          <p:cNvSpPr txBox="1"/>
          <p:nvPr/>
        </p:nvSpPr>
        <p:spPr>
          <a:xfrm>
            <a:off x="6867144" y="3392423"/>
            <a:ext cx="4334256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200"/>
              </a:spcAft>
            </a:pPr>
            <a:r>
              <a:rPr sz="1100" b="0">
                <a:solidFill>
                  <a:srgbClr val="E9EFFA"/>
                </a:solidFill>
                <a:latin typeface="Leelawadee UI"/>
              </a:rPr>
              <a:t>deploy บน Neo4j Aura + Streamlit Community Cloud ให้เปิดลิงก์เดโมได้จากที่ไหนก็ได้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162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420624"/>
            <a:ext cx="68580" cy="566928"/>
          </a:xfrm>
          <a:prstGeom prst="rect">
            <a:avLst/>
          </a:prstGeom>
          <a:solidFill>
            <a:srgbClr val="FF88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749808" y="310896"/>
            <a:ext cx="9875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150" b="1">
                <a:solidFill>
                  <a:srgbClr val="FF8833"/>
                </a:solidFill>
                <a:latin typeface="Leelawadee UI"/>
              </a:rPr>
              <a:t>สรุป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548640"/>
            <a:ext cx="1042416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2700" b="1">
                <a:solidFill>
                  <a:srgbClr val="E9EFFA"/>
                </a:solidFill>
                <a:latin typeface="Leelawadee UI"/>
              </a:rPr>
              <a:t>ส่งครบ 4 ข้อของโจทย์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47104"/>
            <a:ext cx="12191695" cy="310896"/>
          </a:xfrm>
          <a:prstGeom prst="rect">
            <a:avLst/>
          </a:prstGeom>
          <a:solidFill>
            <a:srgbClr val="1E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6574536"/>
            <a:ext cx="868680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900" b="0">
                <a:solidFill>
                  <a:srgbClr val="9FB0CB"/>
                </a:solidFill>
                <a:latin typeface="Leelawadee UI"/>
              </a:rPr>
              <a:t>ระบบแนะนำมือถือ · Neo4j + Streamlit · จัดทำโดย รหัส 007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40135" y="6574536"/>
            <a:ext cx="502920" cy="23774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lnSpc>
                <a:spcPct val="106000"/>
              </a:lnSpc>
              <a:spcAft>
                <a:spcPts val="400"/>
              </a:spcAft>
            </a:pPr>
            <a:r>
              <a:rPr sz="950" b="1">
                <a:solidFill>
                  <a:srgbClr val="FF8833"/>
                </a:solidFill>
                <a:latin typeface="Leelawadee UI"/>
              </a:rPr>
              <a:t>16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49808" y="123444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14400" y="134416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63040" y="132588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สไลด์นำเสนอ (ไฟล์นี้)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65506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slides/นำเสนอระบบแนะนำมือถือ_007.pptx + .pdf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8" y="219456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14400" y="230428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28600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โน๊ตบุ๊กอธิบายวิธีทำ (รันบน Colab)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63040" y="261518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https://colab.research.google.com/gist/Nasak16/8667b219bbff8253335ec78f78b5c79e/PhoneRecommender_Neo4j_007.ipynb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8" y="315468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14400" y="326440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63040" y="324612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โค้ดระบบทั้งหมดบน GitHub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463040" y="357530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https://github.com/Nasak16/phone-recommender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8" y="4114800"/>
            <a:ext cx="10698480" cy="841248"/>
          </a:xfrm>
          <a:prstGeom prst="roundRect">
            <a:avLst>
              <a:gd name="adj" fmla="val 6000"/>
            </a:avLst>
          </a:prstGeom>
          <a:solidFill>
            <a:srgbClr val="172136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914400" y="4224528"/>
            <a:ext cx="4572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800" b="1">
                <a:solidFill>
                  <a:srgbClr val="FF8833"/>
                </a:solidFill>
                <a:latin typeface="Leelawadee UI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63040" y="4206240"/>
            <a:ext cx="45720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300" b="1">
                <a:solidFill>
                  <a:srgbClr val="E9EFFA"/>
                </a:solidFill>
                <a:latin typeface="Leelawadee UI"/>
              </a:rPr>
              <a:t>หน้า index รวมงานทุกชิ้น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463040" y="4535424"/>
            <a:ext cx="969264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400"/>
              </a:spcAft>
            </a:pPr>
            <a:r>
              <a:rPr sz="1050" b="0">
                <a:solidFill>
                  <a:srgbClr val="38BDF8"/>
                </a:solidFill>
                <a:latin typeface="Leelawadee UI"/>
              </a:rPr>
              <a:t>https://nasak16.github.io/homework/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49808" y="5212080"/>
            <a:ext cx="10698480" cy="1097280"/>
          </a:xfrm>
          <a:prstGeom prst="roundRect">
            <a:avLst>
              <a:gd name="adj" fmla="val 6000"/>
            </a:avLst>
          </a:prstGeom>
          <a:solidFill>
            <a:srgbClr val="1E2A45"/>
          </a:solidFill>
          <a:ln w="12700">
            <a:solidFill>
              <a:srgbClr val="2B3A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0120" y="5321808"/>
            <a:ext cx="1024128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0">
                <a:solidFill>
                  <a:srgbClr val="E9EFFA"/>
                </a:solidFill>
                <a:latin typeface="Leelawadee UI"/>
              </a:rPr>
              <a:t>ระบบนี้เป็นของเราเองทั้งหมด: ออกแบบข้อมูลเอง (12 คน × 23 รุ่น × 38 ความสนใจ) ออกแบบโครงสร้างกราฟเอง เขียนสูตรให้คะแนน 5 วิธีเอง และแสดงภาพสินค้าจริงในผลการแนะนำ (แอปมี 6 หน้า)</a:t>
            </a:r>
          </a:p>
          <a:p>
            <a:pPr algn="l">
              <a:lnSpc>
                <a:spcPct val="106000"/>
              </a:lnSpc>
              <a:spcAft>
                <a:spcPts val="500"/>
              </a:spcAft>
            </a:pPr>
            <a:r>
              <a:rPr sz="1200" b="1">
                <a:solidFill>
                  <a:srgbClr val="FF8833"/>
                </a:solidFill>
                <a:latin typeface="Leelawadee UI"/>
              </a:rPr>
              <a:t>ขอบคุณครับ — ยินดีสาธิตสดในแอปและตอบคำถาม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