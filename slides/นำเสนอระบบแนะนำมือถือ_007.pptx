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914400"/>
            <a:ext cx="91440" cy="14630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8686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Leelawadee UI"/>
              </a:rPr>
              <a:t>งาน: พัฒนาระบบแนะนำเป็นระบบของตัวเอง · รหัส 007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3444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5000" b="1">
                <a:solidFill>
                  <a:srgbClr val="E9EFFA"/>
                </a:solidFill>
                <a:latin typeface="Leelawadee UI"/>
              </a:rPr>
              <a:t>ระบบแนะนำมือถือ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4028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900" b="1">
                <a:solidFill>
                  <a:srgbClr val="FF8833"/>
                </a:solidFill>
                <a:latin typeface="Leelawadee UI"/>
              </a:rPr>
              <a:t>PHONE RECOMMENDER SYSTEM · Neo4j (Graph DB) + Streamlit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2608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ข้อมูลของเราเอง 12 คน × 23 รุ่น × 38 ความสนใจ (ไม่ใช้ dataset สำเร็จรูป)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ผลการแนะนำแสดง “ภาพสินค้าจริง” ทุกครั้ง + บอกเหตุผลได้ว่าเพราะใคร/เพราะรุ่นไหน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งานแนวเดียวกับตัวอย่างในวิชา แต่เปลี่ยนโดเมนเป็นมือถือ และใช้สัญญาณ “ยี่ห้อ + ระดับราคา”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8BDF8"/>
                </a:solidFill>
                <a:latin typeface="Leelawade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ผู้ใช้ในระบบ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52044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Leelawadee UI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รุ่นมือถือ (11 ยี่ห้อ)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89788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4D399"/>
                </a:solidFill>
                <a:latin typeface="Leelawadee UI"/>
              </a:rPr>
              <a:t>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ความสนใจ (LIKES)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7532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วิธีให้คะแนน + ผสม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9436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>
                <a:solidFill>
                  <a:srgbClr val="9FB0CB"/>
                </a:solidFill>
                <a:latin typeface="Leelawadee UI"/>
              </a:rPr>
              <a:t>สาธิตการใช้งาน: เว็บแอป Streamlit 7 หน้า (Dashboard → Admin + หน้ารวมงาน) · ข้อมูลบน Neo4j จริง · โค้ด/สไลด์/โน๊ตบุ๊กอยู่บน GitHub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หัวข้อที่จะนำเสนอ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325880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453895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40817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โจทย์และสิ่งที่ส่ง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709928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งาน 4 ข้อของอาจารย์ → ส่งครบอะไรบ้าง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167128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295144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249424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แนวคิดระบบแนะนำบนกราฟ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551176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ทำไมข้อมูล “ใครสนใจรุ่นไหน” ต้องใช้กราฟ + การเดิน 3 hop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008376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13639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090672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ข้อมูลและสถาปัตยกรรม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392424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ข้อมูลชุดของเรา + Neo4j + Streamlit + GitHub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849624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3977639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ระบบทำงานจริง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233672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ผลการแนะนำ 5 วิธี + ภาพสินค้าจริง + อธิบายเหตุผลย้อนหลังได้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4690872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" y="48188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77316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สาธิตการใช้งาน (Like &amp; Rate)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074920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เพิ่มความสนใจ/ให้ดาว แล้วคำแนะนำเปลี่ยนทันที ไม่ต้องเทรนใหม่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532120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4400" y="566013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1441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การทดสอบและลิงก์งาน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5916168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ผลตรวจสอบจริง + Colab + GitHub + หน้า index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โจทย์ &amp; สิ่งที่ส่ง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งานที่อาจารย์สั่ง 4 ข้อ — ส่งครบทุกข้อ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325880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325880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4904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453895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Present ด้วย PowerPoint + สาธิตการใช้งานระบบ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1856231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สไลด์ 16 หน้า (ไฟล์นี้) + เดโมสดในแอป Streamlit + ระบบแสดง “ภาพมือถือจริง” ในผลการแนะนำ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496312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49808" y="2496312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0120" y="2660904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6243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ข้อมูล PowerPoint ไว้ใน 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026664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ใส่ทั้ง .pptx และ .pdf ไว้ในโฟลเดอร์ slides/ ของ repo (ดูได้โดยไม่ต้องติดตั้งอะไร)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66744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49808" y="3666744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0120" y="3831335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3794759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เอาการบ้านทุกอันไว้ใน GitHub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19709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ทุกชิ้นงานมี repo ของตัวเอง และมี repo กลาง homework รวมทุกงานไว้ที่เดียว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837176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49808" y="4837176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001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96519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จัดหน้า index ให้ลิงก์กับงานทุกอัน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536752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หน้าเว็บ GitHub Pages ลิงก์ทุก repo พร้อมคำอธิบายและวันที่อัปเดตล่าสุด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แนวคิด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ทำไมงานนี้ต้องใช้ฐานข้อมูลกราฟ?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88720"/>
            <a:ext cx="5577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>
                <a:solidFill>
                  <a:srgbClr val="E9EFFA"/>
                </a:solidFill>
                <a:latin typeface="Leelawadee UI"/>
              </a:rPr>
              <a:t>ข้อมูล “ใครสนใจมือถือรุ่นไหน” คือข้อมูลความสัมพันธ์ล้วน ๆ ถ้าเก็บเป็นตารางต้อง JOIN หลายชั้นกว่าจะตอบได้ แต่ในกราฟเขียนครั้งเดียวจบ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011680"/>
            <a:ext cx="5577840" cy="228600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121408"/>
            <a:ext cx="5212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คำแนะนำทั้งระบบเขียนด้วย Cypher ไม่กี่บรรทัด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5212079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(me:User {user: 'สมชาย'})-[:LIKES]-&gt;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(shared:Phone)&lt;-[:LIKES]-(other:User)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(other)-[:LIKES]-&gt;(rec:Phone)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WHERE NOT (me)-[:LIKES]-&gt;(rec)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RETURN rec.model, count(DISTINCT other) AS votes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ORDER BY votes DESC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348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FF8833"/>
                </a:solidFill>
                <a:latin typeface="Leelawadee UI"/>
              </a:rPr>
              <a:t>ขั้นตอนการเดิน 3 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5577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1. ดูรุ่นที่ผู้ใช้สนใจ (4 รุ่นของ สมชาย)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2. หาคนอื่นที่สนใจรุ่นเดียวกัน = รสนิยมใกล้กัน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3. เก็บรุ่นที่คนกลุ่มนั้นสนใจ แต่ผู้ใช้ยังไม่สนใจ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4. ให้คะแนน → เรียงอันดับ → แสดงภาพสินค้า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1188720"/>
            <a:ext cx="4864608" cy="521208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12280" y="132588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ทำไมไม่ใช้ตาราง (SQL) เฉย ๆ?</a:t>
            </a:r>
          </a:p>
        </p:txBody>
      </p:sp>
      <p:sp>
        <p:nvSpPr>
          <p:cNvPr id="16" name="Oval 15"/>
          <p:cNvSpPr/>
          <p:nvPr/>
        </p:nvSpPr>
        <p:spPr>
          <a:xfrm>
            <a:off x="681228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50024" y="1737360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กราฟเดินความสัมพันธ์ได้ลึกไม่จำกัดชั้น โดยไม่ต้อง JOIN เพิ่มทุกชั้น</a:t>
            </a:r>
          </a:p>
        </p:txBody>
      </p:sp>
      <p:sp>
        <p:nvSpPr>
          <p:cNvPr id="18" name="Oval 17"/>
          <p:cNvSpPr/>
          <p:nvPr/>
        </p:nvSpPr>
        <p:spPr>
          <a:xfrm>
            <a:off x="6812280" y="224942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50024" y="2157984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ถามแบบ “เพื่อนของเพื่อนสนใจอะไร” ได้ทันที (เส้นทาง 3 hop)</a:t>
            </a:r>
          </a:p>
        </p:txBody>
      </p:sp>
      <p:sp>
        <p:nvSpPr>
          <p:cNvPr id="20" name="Oval 19"/>
          <p:cNvSpPr/>
          <p:nvPr/>
        </p:nvSpPr>
        <p:spPr>
          <a:xfrm>
            <a:off x="6812280" y="26700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50024" y="2578608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นับซ้ำให้เองด้วย count(DISTINCT …) — 1 คน = 1 เสียง</a:t>
            </a:r>
          </a:p>
        </p:txBody>
      </p:sp>
      <p:sp>
        <p:nvSpPr>
          <p:cNvPr id="22" name="Oval 21"/>
          <p:cNvSpPr/>
          <p:nvPr/>
        </p:nvSpPr>
        <p:spPr>
          <a:xfrm>
            <a:off x="6812280" y="3090672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50024" y="2999232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เพิ่มผู้ใช้/รุ่นใหม่แล้วแนะนำได้ทันที ไม่ต้องเทรนโมเดลใหม่</a:t>
            </a:r>
          </a:p>
        </p:txBody>
      </p:sp>
      <p:sp>
        <p:nvSpPr>
          <p:cNvPr id="24" name="Oval 23"/>
          <p:cNvSpPr/>
          <p:nvPr/>
        </p:nvSpPr>
        <p:spPr>
          <a:xfrm>
            <a:off x="6812280" y="35112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50024" y="3419856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อธิบายย้อนหลังได้ว่าคำแนะนำมาจากใครและรุ่นไหน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3931919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ข้อแลกเปลี่ยน: ถ้าข้อมูลความสนใจมีหลักล้านเส้น การนับด้วย Cypher ทุกครั้งจะช้ากว่า การ precompute — งานนี้ข้อมูลเล็ก (38 เส้น) จึงตอบได้ทันที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ข้อมูลชุดของเรา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เก็บข้อมูลเองทั้งหมด — ไม่ใช้ dataset สำเร็จรูป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8BDF8"/>
                </a:solidFill>
                <a:latin typeface="Leelawadee U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ผู้ใช้ (User)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136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231136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Leelawadee UI"/>
              </a:rPr>
              <a:t>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1136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รุ่นมือถือ (Phone)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12464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12464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4D399"/>
                </a:solidFill>
                <a:latin typeface="Leelawadee UI"/>
              </a:rPr>
              <a:t>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2464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ความสนใจ (LIKES)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93792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93792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F8833"/>
                </a:solidFill>
                <a:latin typeface="Leelawadee U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2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ยี่ห้อ (Brand)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1234440"/>
            <a:ext cx="468172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3 ระดับราคา: เรือธง · ระดับกลาง · ระดับเริ่มต้น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ยี่ห้อ: ASUS, Apple, Google, Honor, OPPO, OnePlus, Samsung, Sony, Xiaomi, realme, vivo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50" b="0">
                <a:solidFill>
                  <a:srgbClr val="FBBF24"/>
                </a:solidFill>
                <a:latin typeface="Leelawadee UI"/>
              </a:rPr>
              <a:t>คะแนนดาว (RATED {stars}) 38 เส้น · ดาวเฉลี่ยต่อรุ่นใช้เป็นสัญญาณที่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2468880"/>
            <a:ext cx="5394960" cy="37947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0120" y="260604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12 ผู้ใช้ แบ่งตามกลุ่มรสนิยม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017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สมชาย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01752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Android เรือธง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28269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นรินทร์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328269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Android เดิม ๆ (stock)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54787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มะลิ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354787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Apple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81304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ปวีณา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381304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Apple + Samsung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078224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อนุชา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407822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Samsung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343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พลอย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434340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สายถ่ายรูป (กล้องดี)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60857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กัญญา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460857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สายคุ้มค่า (งบจำกัด)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87375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เฟิร์น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48737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สายดีไซน์ + กล้อง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13892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ชัย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17520" y="513892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สายเกมมิ่ง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5404104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ธนกร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540410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สายสเปกแรง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6692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แบม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566928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สายแบตอึด งบประหยัด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93445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มินต์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20" y="593445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สายดีไซน์ไม่เหมือนใคร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2468880"/>
            <a:ext cx="5047488" cy="37947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629400" y="26060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ทำไมออกแบบข้อมูลแบบนี้</a:t>
            </a:r>
          </a:p>
        </p:txBody>
      </p:sp>
      <p:sp>
        <p:nvSpPr>
          <p:cNvPr id="49" name="Oval 48"/>
          <p:cNvSpPr/>
          <p:nvPr/>
        </p:nvSpPr>
        <p:spPr>
          <a:xfrm>
            <a:off x="6629400" y="310896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867144" y="301752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แต่ละคนสนใจ 2–4 รุ่น → มีทั้งคนที่รสนิยมซ้ำกันและคนที่ต่างกันสุดขั้ว</a:t>
            </a:r>
          </a:p>
        </p:txBody>
      </p:sp>
      <p:sp>
        <p:nvSpPr>
          <p:cNvPr id="51" name="Oval 50"/>
          <p:cNvSpPr/>
          <p:nvPr/>
        </p:nvSpPr>
        <p:spPr>
          <a:xfrm>
            <a:off x="6629400" y="35112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867144" y="3419856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มีกลุ่ม “สายยี่ห้อ” (Apple/Samsung) และ “สายงบ” (รุ่นกลาง) เพื่อทดสอบสัญญาณ Brand/Tier</a:t>
            </a:r>
          </a:p>
        </p:txBody>
      </p:sp>
      <p:sp>
        <p:nvSpPr>
          <p:cNvPr id="53" name="Oval 52"/>
          <p:cNvSpPr/>
          <p:nvPr/>
        </p:nvSpPr>
        <p:spPr>
          <a:xfrm>
            <a:off x="6629400" y="413308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867144" y="4041648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ทุกรุ่นมีคนสนใจอย่างน้อย 1 คน → ไม่มีโหนดร้างในกราฟ</a:t>
            </a:r>
          </a:p>
        </p:txBody>
      </p:sp>
      <p:sp>
        <p:nvSpPr>
          <p:cNvPr id="55" name="Oval 54"/>
          <p:cNvSpPr/>
          <p:nvPr/>
        </p:nvSpPr>
        <p:spPr>
          <a:xfrm>
            <a:off x="6629400" y="453542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867144" y="4443983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ภาพสินค้าดึงจาก Wikimedia Commons แล้วเก็บไว้ในโปรเจกต์ (แสดงได้แม้ไม่มีเน็ต)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ภาพในระบบแนะนำ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ทุกรุ่นในการ์ดมีภาพสินค้าจริง (ตามโจทย์ข้อ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6</a:t>
            </a:r>
          </a:p>
        </p:txBody>
      </p:sp>
      <p:pic>
        <p:nvPicPr>
          <p:cNvPr id="8" name="Picture 7" descr="phone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055" y="1188720"/>
            <a:ext cx="6156144" cy="5029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188720"/>
            <a:ext cx="3081528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77072" y="132588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ภาพถูกใช้ 2 ที่</a:t>
            </a:r>
          </a:p>
        </p:txBody>
      </p:sp>
      <p:sp>
        <p:nvSpPr>
          <p:cNvPr id="11" name="Oval 10"/>
          <p:cNvSpPr/>
          <p:nvPr/>
        </p:nvSpPr>
        <p:spPr>
          <a:xfrm>
            <a:off x="8577072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814816" y="1783080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ในแอป: การ์ดผลการแนะนำ + คลังรุ่นทั้งหมด</a:t>
            </a:r>
          </a:p>
        </p:txBody>
      </p:sp>
      <p:sp>
        <p:nvSpPr>
          <p:cNvPr id="13" name="Oval 12"/>
          <p:cNvSpPr/>
          <p:nvPr/>
        </p:nvSpPr>
        <p:spPr>
          <a:xfrm>
            <a:off x="8577072" y="229514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14816" y="2203704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ในโน๊ตบุ๊ก: เซลล์แสดงผลลัพธ์พร้อมภาพทุกครั้ง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271576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14816" y="2624328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ในสไลด์: หน้าสาธิตผลการแนะนำ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3182112"/>
            <a:ext cx="2651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ที่มา: Wikimedia Commons (สัญญาอนุญาตเสรี) เก็บชื่อไฟล์ต้นทางใน data/phones.json เพื่อให้เครดิตได้ครบ — ตรวจทีละภาพว่าไม่ผิดรุ่น ไม่ใช่โลโก้ และไม่ใช่ภาพเปล่า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สถาปัตยกรรม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โครงสร้างกราฟและจำนวนข้อมูลจริงใน Neo4j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486400" cy="196596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1298448"/>
            <a:ext cx="5120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Schema ที่โหลดเข้า Neo4j 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572768"/>
            <a:ext cx="5120640" cy="1444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(User {user, age, group})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[:LIKES]  38 เส้น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▼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(Phone {phone_id, model, brand, tier, image})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[:BY_BRAND] → (Brand {name})   11 โหนด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[:IN_TIER]  → (Tier {name})     3 โหนด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188720"/>
            <a:ext cx="4956048" cy="19659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72084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ทำไมแยก Brand/Tier เป็นโหนด?</a:t>
            </a:r>
          </a:p>
        </p:txBody>
      </p:sp>
      <p:sp>
        <p:nvSpPr>
          <p:cNvPr id="13" name="Oval 12"/>
          <p:cNvSpPr/>
          <p:nvPr/>
        </p:nvSpPr>
        <p:spPr>
          <a:xfrm>
            <a:off x="672084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58583" y="173736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Brand/Tier ใช้เป็นสัญญาณที่สอง (content-based) ไม่ต้องพึ่งเพื่อน</a:t>
            </a:r>
          </a:p>
        </p:txBody>
      </p:sp>
      <p:sp>
        <p:nvSpPr>
          <p:cNvPr id="15" name="Oval 14"/>
          <p:cNvSpPr/>
          <p:nvPr/>
        </p:nvSpPr>
        <p:spPr>
          <a:xfrm>
            <a:off x="6720840" y="22128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958583" y="2121408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ช่วยแก้ cold start ของผู้ใช้ใหม่</a:t>
            </a:r>
          </a:p>
        </p:txBody>
      </p:sp>
      <p:sp>
        <p:nvSpPr>
          <p:cNvPr id="17" name="Oval 16"/>
          <p:cNvSpPr/>
          <p:nvPr/>
        </p:nvSpPr>
        <p:spPr>
          <a:xfrm>
            <a:off x="6720840" y="25968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58583" y="2505456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คำนวณ “ยี่ห้อเดียวกันกี่รุ่น” ได้ด้วยการเดินกราฟ ไม่ต้องเขียนโค้ดนับเอง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29184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คำถามหลัก 3 hop ที่ระบบใช้จริง (ผลจากข้อมูลชุดนี้)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70332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3813048"/>
            <a:ext cx="493775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Hop 1-2-3 → รุ่นที่เพื่อนรสนิยมใกล้สนใจ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087368"/>
            <a:ext cx="4937759" cy="2039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(me:User {user: 'สมชาย'})-[:LIKES]-&gt;(shared)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(shared)&lt;-[:LIKES]-(other:User)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(other)-[:LIKES]-&gt;(rec:Phone)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WHERE NOT (me)-[:LIKES]-&gt;(rec)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RETURN rec.model, count(DISTINCT other) AS votes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ORDER BY votes DESC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03320"/>
            <a:ext cx="5184648" cy="25603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46520" y="384048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ผลจริงจากกราฟ (เรียงตามจำนวนคน)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2062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realme C35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มินต์, เฟิร์น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Samsung Galaxy S23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ปวีณา, อนุชา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ASUS ROG Phone 6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ชัย, ธนกร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realme 16 Pro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ธนกร, เฟิร์น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Samsung Galaxy A55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1 คน: อนุชา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ระบบให้คะแนน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5 วิธี (เลือกเทียบกันได้ในแอป)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188720"/>
            <a:ext cx="68580" cy="2331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50976" y="13350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38BDF8"/>
                </a:solidFill>
                <a:latin typeface="Leelawadee UI"/>
              </a:rPr>
              <a:t>1) นับโหวตเพื่อน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17556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คะแนน = จำนวนคนที่สนใจรุ่นนั้น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count(DISTINCT other) → 1 คน = 1 เสียง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ข้อดี: เข้าใจง่าย | ข้อเสีย: ทุกคนน้ำหนักเท่ากัน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1887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63640" y="1188720"/>
            <a:ext cx="68580" cy="2331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64808" y="13350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34D399"/>
                </a:solidFill>
                <a:latin typeface="Leelawadee UI"/>
              </a:rPr>
              <a:t>2) ถ่วงน้ำหนัก (Jaccard)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7556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คะแนน = Σ Jaccard(เรา, คนนั้น)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Jaccard = |สนใจร่วม| ÷ |รุ่นของสองคนรวมกัน|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คนรสนิยมใกล้เราสุดมีเสียงมากสุด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7033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49808" y="3703320"/>
            <a:ext cx="68580" cy="2331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38496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FBBF24"/>
                </a:solidFill>
                <a:latin typeface="Leelawadee UI"/>
              </a:rPr>
              <a:t>3) ตามยี่ห้อ/ระดับราคา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2702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นับรุ่นที่เราเคยสนใจซึ่งใช้ยี่ห้อเดียวกัน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+ อยู่ระดับราคาเดียวกัน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ใช้ได้กับผู้ใช้ใหม่ (cold start)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63640" y="3703320"/>
            <a:ext cx="68580" cy="233172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64808" y="38496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FF8833"/>
                </a:solidFill>
                <a:latin typeface="Leelawadee UI"/>
              </a:rPr>
              <a:t>4) ผสมสองสัญญาณ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42702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0.6 × (คะแนนเพื่อน normalize)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+ 0.4 × (คะแนนยี่ห้อ/ราคา normalize)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กันปัญหา “แนะนำของนอกงบ” เช่นงบกลางแต่ได้เรือธง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961888"/>
            <a:ext cx="10698480" cy="676656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60350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5) ถ่วงด้วยคะแนนดาว — </a:t>
            </a:r>
            <a:r>
              <a:rPr sz="1100" b="0">
                <a:solidFill>
                  <a:srgbClr val="E9EFFA"/>
                </a:solidFill>
                <a:latin typeface="Leelawadee UI"/>
              </a:rPr>
              <a:t>คะแนน = Σ ( Jaccard(เรา, เพื่อน) × ดาวที่เพื่อนให้รุ่นนั้น ÷ 5 ) ใช้ความสัมพันธ์ RATED {stars} → คนที่ให้ 5 ดาวมีน้ำหนักมากกว่าคนที่ให้ 2 ดาว (ทุกวิธีถูกตรวจเทียบกันแล้ว — ดูหน้าผลการทดสอบ)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เว็บแอป Streamlit ต่อ Neo4j — เมนู 7 หน้า + หน้ารวมงาน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52144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152144"/>
            <a:ext cx="50292" cy="603504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444752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ภาพรวมระบบ 6 ตัวชี้วัด + กราฟ + โปรไฟล์ผู้ใช้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810512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49808" y="1810512"/>
            <a:ext cx="50292" cy="6035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184708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103120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การ์ดคำแนะนำมีภาพสินค้า + คะแนน + เหตุผล (5 วิธี)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2468880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49808" y="2468880"/>
            <a:ext cx="50292" cy="6035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250545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Phone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761488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ค้นหา/กรอง 23 รุ่น พร้อมภาพสินค้าจริง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127248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49808" y="3127248"/>
            <a:ext cx="50292" cy="60350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400" y="316382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Like &amp;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419856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เพิ่ม/ลบความสนใจ + ให้ดาว แล้วเห็นผลก่อน–หลัง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3785615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49808" y="3785615"/>
            <a:ext cx="50292" cy="603504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14400" y="3822191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Graph Explorer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078224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กราฟความสัมพันธ์ + ตาราง edge + รัน Cypher เอง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4443983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49808" y="4443983"/>
            <a:ext cx="50292" cy="6035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14400" y="4480559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Admin &amp; Setup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736592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schema + รีโหลดข้อมูล idempotent + ดาวน์โหลด CSV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5102351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749808" y="5102351"/>
            <a:ext cx="50292" cy="6035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14400" y="5138927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Index &amp; Links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394959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หัวข้อรวมงานทุกชิ้นบน GitHub + ลิงก์หน้า index</a:t>
            </a:r>
          </a:p>
        </p:txBody>
      </p:sp>
      <p:pic>
        <p:nvPicPr>
          <p:cNvPr id="36" name="Picture 35" descr="app_re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764252"/>
            <a:ext cx="5367528" cy="38324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ผลจริง: คำแนะนำสำหรับ สมชาย (พร้อมภาพสินค้า)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15568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รุ่นที่ สมชาย สนใจอยู่แล้ว 4 รุ่น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galaxy-s24-ult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542" y="1618488"/>
            <a:ext cx="891540" cy="1188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77824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8255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honor-magic6-p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134" y="1618488"/>
            <a:ext cx="559251" cy="1188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76272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Honor Magic6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46703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xiaomi-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693" y="1618488"/>
            <a:ext cx="893028" cy="11887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474720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Xiaomi 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xperia-1-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1719072"/>
            <a:ext cx="987552" cy="9875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73168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Sony Xperia 1 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3168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1115568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Leelawadee UI"/>
              </a:rPr>
              <a:t>ระบบแนะนำ (ถ่วงน้ำหนัก + ผสม)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galaxy-s2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0488" y="1746321"/>
            <a:ext cx="1481328" cy="111593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087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087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0.944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87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ปวีณา, อนุชา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 + ยี่ห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rog-phone-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4189" y="1618488"/>
            <a:ext cx="771525" cy="13716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0375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ASUS ROG Phone 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75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0.864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375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ชัย, ธนกร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 + ยี่ห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383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c3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74402" y="1618488"/>
            <a:ext cx="1028700" cy="13716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663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realme C35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663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663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มินต์, เฟิร์น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663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เพื่อนที่รสนิยมใกล้สนใจ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8" y="4114800"/>
            <a:ext cx="10698480" cy="2148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60120" y="4224528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ทำไมได้รุ่นนี้ — อธิบายย้อนหลังได้ทุกคำแนะนำ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4590288"/>
            <a:ext cx="10241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Samsung Galaxy S23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0.944  |  เพื่อน ปวีณา, อนุชา  |  เพราะสนใจ Galaxy S24 Ultra</a:t>
            </a:r>
          </a:p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ASUS ROG Phone 6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0.864  |  เพื่อน ชัย, ธนกร  |  เพราะสนใจ Xiaomi 14</a:t>
            </a:r>
          </a:p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realme C35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0.6  |  เพื่อน มินต์, เฟิร์น  |  เพราะสนใจ Xperia 1 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580644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คะแนนผสม = 0.6 × เพื่อน (Jaccard) + 0.4 × ยี่ห้อ/ระดับราคา — ตัวเลขจริงจากข้อมูลชุดนี้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ใครรสนิยมใกล้ สมชาย (ตารางจริงจาก Cypher)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430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Jaccard = |รุ่นที่สนใจร่วมกัน| ÷ |รุ่นของสองคนรวมกัน| — ยิ่งใกล้ 1 ยิ่งเหมือนกัน และยิ่งมีน้ำหนักโหวตมาก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91640"/>
            <a:ext cx="10698480" cy="3291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810512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ผู้ใช้ · รุ่นที่สนใจร่วม · ค่า Jaccard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มินต์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212848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Sony Xperia 1 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1284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0.2   (1 รุ่น)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4203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ชัย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54203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Xiaomi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542032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871215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ธนกร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2871215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Xiaomi 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871215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200399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ปวีณา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200399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00399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529583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อนุชา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3529583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529583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114800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ข้อสังเกต: มี 7 คนที่มีรุ่นสนใจร่วมกับ สมชาย — น้ำหนักโหวตของแต่ละคนไม่เท่ากันตามค่านี้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5120640"/>
            <a:ext cx="10698480" cy="118872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60120" y="525780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ทำไมต้อง K จุดนี้: ถ้าใช้แค่ “นับโหวต” คนที่สนใจตรงกันเพียงรุ่นเดียวจะมีเสียงเท่ากับ คนที่รสนิยมเหมือนเราเกือบทั้งหมด — การถ่วงด้วย Jaccard แก้ปัญหานี้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เห็นภาพความสัมพันธ์: กราฟผู้ใช้ ↔ รุ่นมือถือ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12</a:t>
            </a:r>
          </a:p>
        </p:txBody>
      </p:sp>
      <p:pic>
        <p:nvPicPr>
          <p:cNvPr id="8" name="Picture 7" descr="graph_somch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705505"/>
            <a:ext cx="7772400" cy="39499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732520" y="1143000"/>
            <a:ext cx="2715768" cy="50749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15400" y="128016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อ่านกราฟ</a:t>
            </a:r>
          </a:p>
        </p:txBody>
      </p:sp>
      <p:sp>
        <p:nvSpPr>
          <p:cNvPr id="11" name="Oval 10"/>
          <p:cNvSpPr/>
          <p:nvPr/>
        </p:nvSpPr>
        <p:spPr>
          <a:xfrm>
            <a:off x="891540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53144" y="1737360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จุดส้ม = ผู้ใช้ที่เลือก</a:t>
            </a:r>
          </a:p>
        </p:txBody>
      </p:sp>
      <p:sp>
        <p:nvSpPr>
          <p:cNvPr id="13" name="Oval 12"/>
          <p:cNvSpPr/>
          <p:nvPr/>
        </p:nvSpPr>
        <p:spPr>
          <a:xfrm>
            <a:off x="8915400" y="22128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53144" y="2121408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จุดฟ้า = คนรสนิยมใกล้</a:t>
            </a:r>
          </a:p>
        </p:txBody>
      </p:sp>
      <p:sp>
        <p:nvSpPr>
          <p:cNvPr id="15" name="Oval 14"/>
          <p:cNvSpPr/>
          <p:nvPr/>
        </p:nvSpPr>
        <p:spPr>
          <a:xfrm>
            <a:off x="8915400" y="25968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53144" y="2505456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จุดเหลือง = รุ่นที่สนใจแล้ว</a:t>
            </a:r>
          </a:p>
        </p:txBody>
      </p:sp>
      <p:sp>
        <p:nvSpPr>
          <p:cNvPr id="17" name="Oval 16"/>
          <p:cNvSpPr/>
          <p:nvPr/>
        </p:nvSpPr>
        <p:spPr>
          <a:xfrm>
            <a:off x="8915400" y="298094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53144" y="2889503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จุดเขียว = รุ่นที่ระบบแนะนำ</a:t>
            </a:r>
          </a:p>
        </p:txBody>
      </p:sp>
      <p:sp>
        <p:nvSpPr>
          <p:cNvPr id="19" name="Oval 18"/>
          <p:cNvSpPr/>
          <p:nvPr/>
        </p:nvSpPr>
        <p:spPr>
          <a:xfrm>
            <a:off x="8915400" y="33649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53144" y="3273551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เส้นประเขียว = ทางเดิน 3 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3794759"/>
            <a:ext cx="2377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กราฟสร้างในตัวแอป (ไม่ใช่ภาพนิ่ง) — เปลี่ยนผู้ใช้/วิธีให้คะแนนแล้ววาดใหม่ทันที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Like &amp; Rate: แก้ข้อมูลแล้วคำแนะนำเปลี่ยนทันที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486400" cy="36576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1298448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FF8833"/>
                </a:solidFill>
                <a:latin typeface="Leelawadee UI"/>
              </a:rPr>
              <a:t>กดเพิ่มความสนใจ 1 รุ่น แล้วดูผลก่อน–หลัง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1737360"/>
            <a:ext cx="5074920" cy="292608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1847088"/>
            <a:ext cx="470915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สิ่งที่แอปทำตอนกดปุ่ม “เพิ่มความสนใจ”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121408"/>
            <a:ext cx="4709159" cy="2404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เพิ่มความสนใจใหม่ลงกราฟ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(u:User {user: 'สมชาย'}), (p:Phone {phone_id: 'P01'})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MERGE (u)-[:LIKES]-&gt;(p)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ให้คะแนนดาวกับรุ่นนั้นด้วย (สัญญาณที่ 5)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MERGE (u)-[r:RATED]-&gt;(p) SET r.stars = 4.5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แล้วถามคำแนะนำเดิมซ้ำทันที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ไม่ต้องเทรนโมเดลใหม่ ไม่ต้องรอ batch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เพราะคำแนะนำคำนวณสดจากการเดินกราฟ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188720"/>
            <a:ext cx="5047488" cy="36576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29400" y="129844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Leelawadee UI"/>
              </a:rPr>
              <a:t>Cold start: ผู้ใช้ใหม่ที่ยังไม่มีเพื่อนรสนิยม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737360"/>
            <a:ext cx="4572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เพิ่มผู้ใช้ใหม่ที่สนใจ Samsung Galaxy S25 (รุ่นที่ยังไม่มีใครสนใจ) → สัญญาณ “เพื่อน” ว่างเปล่า แต่ระบบยังแนะนำได้จากโหนด Brand (Samsung) และ Tier (เรือธง)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7432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Leelawadee UI"/>
              </a:rPr>
              <a:t>ตัวอย่างผลจากสัญญาณยี่ห้อ/ราคา (ผู้ใช้จริง สมชาย)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06324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06324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1 · ราคาตรง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33756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OPPO Find X6 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3375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0 · ราคาตรง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611879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OPPO Find X7 Ultra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3611879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0 · ราคาตรง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5029200"/>
            <a:ext cx="10698480" cy="128016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" y="5138928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สะพานเชื่อมกับของเดิม: ระบบนี้ใช้ซ้ำไอเดีย “เพื่อนของเพื่อน” ที่ฝึกในคลาส แต่ย้ายมาคิดบน กราฟทั้งหมด → เขียนสั้นกว่า อ่านง่ายกว่า และเพิ่มสัญญาณยี่ห้อ/ราคาเข้ามาแก้จุดอ่อน เรื่องผู้ใช้ใหม่ได้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ตรวจสอบด้วยข้อมูลจริง ไม่ใช่แค่ “รันผ่าน”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234440"/>
            <a:ext cx="68580" cy="105156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380744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34D399"/>
                </a:solidFill>
                <a:latin typeface="Leelawade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53312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สอง backend ให้ผลตรงกัน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719072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เทียบ Cypher (Neo4j) กับ backend สำรองในหน่วยความจำ ของผู้ใช้ทั้ง 12 คน × 6 การตรวจ (รวมวิธีถ่วงด้วยคะแนนดาว) — ผลตรงกันครบทุกคน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441448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49808" y="2441448"/>
            <a:ext cx="68580" cy="105156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0120" y="258775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38BDF8"/>
                </a:solidFill>
                <a:latin typeface="Leelawade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560320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โน๊ตบุ๊กรันได้จริงทุกเซลล์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926080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สร้างโน๊ตบุ๊กใหม่จากข้อมูลชุดเดียวกัน รันทุกเซลล์บน Neo4j ในเครื่อง มี output จริงฝังในไฟล์ และมี assertion ท้ายไฟล์ยืนยันข้อมูลกลับสู่สภาพเดิม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48456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49808" y="3648456"/>
            <a:ext cx="68580" cy="105156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0120" y="37947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FBBF24"/>
                </a:solidFill>
                <a:latin typeface="Leelawade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767328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โหมดไม่มี Neo4j ต้องไม่พัง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133088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ปิดการเชื่อมต่อฐานข้อมูลแล้วเปิดแอปใหม่ — สลับไปใช้ backend สำรองอัตโนมัติ และภาพสินค้าแสดงครบ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855464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49808" y="4855464"/>
            <a:ext cx="68580" cy="105156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00176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974336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ภาพต้องถูกต้อง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340096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ตรวจด้วยตา 2 รอบ: รอบแรกพบภาพ iPhone 3 รุ่นมืดเกินไป → หาภาพใหม่จาก Commons แล้วตรวจซ้ำ 23/23 ภาพเป็นตัวเครื่องจริง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ข้อจำกัด &amp; ต่อยอด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งานนี้ทำอะไรได้ และยังขาดอะไร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349240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132588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87171"/>
                </a:solidFill>
                <a:latin typeface="Leelawadee UI"/>
              </a:rPr>
              <a:t>ข้อจำกัดที่ควรพูดตอนนำเสนอ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97864" y="1783080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ข้อมูลความสนใจมี 38 เส้น — น้อย (sparsity) ถ้าเก็บจากผู้ใช้จริงจะแม่นขึ้น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227685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7864" y="2185415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ยังไม่ใช้สเปกเครื่อง (RAM/กล้อง/แบตเตอรี่) เป็นสัญญาณ จึงตอบ “รุ่นไหนกล้องดีสุด” ไม่ได้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26791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7864" y="2587751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ระดับราคาแบ่งหยาบ 3 ระดับ ถ้าใช้ช่วงงบเป็นตัวเลขจริงจะแนะนำตรงใจกว่า</a:t>
            </a:r>
          </a:p>
        </p:txBody>
      </p:sp>
      <p:sp>
        <p:nvSpPr>
          <p:cNvPr id="16" name="Oval 15"/>
          <p:cNvSpPr/>
          <p:nvPr/>
        </p:nvSpPr>
        <p:spPr>
          <a:xfrm>
            <a:off x="960120" y="308152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97864" y="2990087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ผู้ใช้/ความสนใจเป็นข้อมูลสมมติจากการจัดชุดเพื่อการเรียนการสอน</a:t>
            </a:r>
          </a:p>
        </p:txBody>
      </p:sp>
      <p:sp>
        <p:nvSpPr>
          <p:cNvPr id="18" name="Oval 17"/>
          <p:cNvSpPr/>
          <p:nvPr/>
        </p:nvSpPr>
        <p:spPr>
          <a:xfrm>
            <a:off x="960120" y="348386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97864" y="3392423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คะแนนไม่ได้บอกความมั่นใจ (confidence) ของคำแนะนำ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188720"/>
            <a:ext cx="5047488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2940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Leelawadee UI"/>
              </a:rPr>
              <a:t>ต่อยอดได้</a:t>
            </a:r>
          </a:p>
        </p:txBody>
      </p:sp>
      <p:sp>
        <p:nvSpPr>
          <p:cNvPr id="22" name="Oval 21"/>
          <p:cNvSpPr/>
          <p:nvPr/>
        </p:nvSpPr>
        <p:spPr>
          <a:xfrm>
            <a:off x="6629400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67144" y="178308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เก็บข้อมูลจริงด้วยแบบสอบถามในห้องเรียน แล้วโหลดเข้าฐานข้อมูลเดิมได้ทันที</a:t>
            </a:r>
          </a:p>
        </p:txBody>
      </p:sp>
      <p:sp>
        <p:nvSpPr>
          <p:cNvPr id="24" name="Oval 23"/>
          <p:cNvSpPr/>
          <p:nvPr/>
        </p:nvSpPr>
        <p:spPr>
          <a:xfrm>
            <a:off x="6629400" y="227685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67144" y="2185415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เพิ่มโหนดสเปก (Camera, Battery, Chipset) แล้วเป็นระบบแนะนำแบบหลายเกณฑ์</a:t>
            </a:r>
          </a:p>
        </p:txBody>
      </p:sp>
      <p:sp>
        <p:nvSpPr>
          <p:cNvPr id="26" name="Oval 25"/>
          <p:cNvSpPr/>
          <p:nvPr/>
        </p:nvSpPr>
        <p:spPr>
          <a:xfrm>
            <a:off x="6629400" y="26791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67144" y="2587751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เพิ่มน้ำหนักตามความสำคัญที่ผู้ใช้ให้ (เช่น เน้นกล้องมากกว่าราคา)</a:t>
            </a:r>
          </a:p>
        </p:txBody>
      </p:sp>
      <p:sp>
        <p:nvSpPr>
          <p:cNvPr id="28" name="Oval 27"/>
          <p:cNvSpPr/>
          <p:nvPr/>
        </p:nvSpPr>
        <p:spPr>
          <a:xfrm>
            <a:off x="6629400" y="308152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67144" y="2990087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เก็บประวัติการกดดู/เทียบรุ่น แล้วเปลี่ยนจาก “ความสนใจ” เป็นพฤติกรรมจริง</a:t>
            </a:r>
          </a:p>
        </p:txBody>
      </p:sp>
      <p:sp>
        <p:nvSpPr>
          <p:cNvPr id="30" name="Oval 29"/>
          <p:cNvSpPr/>
          <p:nvPr/>
        </p:nvSpPr>
        <p:spPr>
          <a:xfrm>
            <a:off x="6629400" y="348386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67144" y="3392423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deploy บน Neo4j Aura + Streamlit Community Cloud ให้เปิดลิงก์เดโมได้จากที่ไหนก็ได้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สรุป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ส่งครบ 4 ข้อของโจทย์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34416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สไลด์นำเสนอ (ไฟล์นี้)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5506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slides/นำเสนอระบบแนะนำมือถือ_007.pptx + .pdf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194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30428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2860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โน๊ตบุ๊กอธิบายวิธีทำ (รันบน Colab)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61518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https://colab.research.google.com/gist/Nasak16/8667b219bbff8253335ec78f78b5c79e/PhoneRecommender_Neo4j_007.ipynb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15468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26440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2461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โค้ดระบบทั้งหมดบน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57530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https://github.com/Nasak16/phone-recommender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1148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422452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หน้า index รวมงานทุกชิ้น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53542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https://nasak16.github.io/homework/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212080"/>
            <a:ext cx="10698480" cy="109728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321808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ระบบนี้เป็นของเราเองทั้งหมด: ออกแบบข้อมูลเอง (12 คน × 23 รุ่น × 38 ความสนใจ) ออกแบบโครงสร้างกราฟเอง เขียนสูตรให้คะแนน 5 วิธีเอง และแสดงภาพสินค้าจริงในผลการแนะนำ (แอปมี 6 หน้า)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200" b="1">
                <a:solidFill>
                  <a:srgbClr val="FF8833"/>
                </a:solidFill>
                <a:latin typeface="Leelawadee UI"/>
              </a:rPr>
              <a:t>ขอบคุณครับ — ยินดีสาธิตสดในแอปและตอบคำถาม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